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943600" cy="5486400"/>
          </a:xfrm>
          <a:prstGeom prst="ellipse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4572000"/>
          </a:xfrm>
          <a:prstGeom prst="ellipse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85800"/>
            <a:ext cx="5852160" cy="329184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36576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⚡ DUCKDB IN-MEMORY OLAP ENGINE  //  LATENCY &lt; 4ms  //  EBA 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5800" b="1">
                <a:solidFill>
                  <a:srgbClr val="FFFFFF"/>
                </a:solidFill>
                <a:latin typeface="Segoe UI"/>
              </a:defRPr>
            </a:pPr>
            <a:r>
              <a:t>FinSight AI</a:t>
            </a:r>
          </a:p>
          <a:p>
            <a:pPr>
              <a:spcAft>
                <a:spcPts val="1400"/>
              </a:spcAft>
              <a:defRPr sz="2300" b="1">
                <a:solidFill>
                  <a:srgbClr val="38BDF8"/>
                </a:solidFill>
                <a:latin typeface="Segoe UI"/>
              </a:defRPr>
            </a:pPr>
            <a:r>
              <a:t>The Autonomous SME Credit Readiness &amp; Capital Sizing Copilot</a:t>
            </a:r>
          </a:p>
          <a:p>
            <a:pPr>
              <a:defRPr sz="1450">
                <a:solidFill>
                  <a:srgbClr val="94A3B8"/>
                </a:solidFill>
                <a:latin typeface="Segoe UI"/>
              </a:defRPr>
            </a:pPr>
            <a:r>
              <a:t>Empowering European SMEs to unlock optimal bank financing:</a:t>
            </a:r>
            <a:br/>
            <a:r>
              <a:t>Turning historical balance sheets, central bank benchmarks, and ESG audits</a:t>
            </a:r>
            <a:br/>
            <a:r>
              <a:t>into a certified credit dossier in 14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3474720" cy="150876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4315968"/>
            <a:ext cx="3328416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407408"/>
            <a:ext cx="301752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EXECUTION LATENCY</a:t>
            </a:r>
          </a:p>
          <a:p>
            <a:pPr>
              <a:defRPr sz="4000" b="1">
                <a:solidFill>
                  <a:srgbClr val="38BDF8"/>
                </a:solidFill>
                <a:latin typeface="Consolas"/>
              </a:defRPr>
            </a:pPr>
            <a:r>
              <a:t>14s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vs 21 Days Bank 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297680"/>
            <a:ext cx="3474720" cy="150876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4315968"/>
            <a:ext cx="3328416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407408"/>
            <a:ext cx="301752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UNDERWRITING CERTAINTY</a:t>
            </a:r>
          </a:p>
          <a:p>
            <a:pPr>
              <a:defRPr sz="4000" b="1">
                <a:solidFill>
                  <a:srgbClr val="34D399"/>
                </a:solidFill>
                <a:latin typeface="Consolas"/>
              </a:defRPr>
            </a:pPr>
            <a:r>
              <a:t>94%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Banca d'Italia Pre-Audited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4297680"/>
            <a:ext cx="3474720" cy="150876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4315968"/>
            <a:ext cx="332841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4407408"/>
            <a:ext cx="301752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ACCIDENTAL BLACK BOX</a:t>
            </a:r>
          </a:p>
          <a:p>
            <a:pPr>
              <a:defRPr sz="4000" b="1">
                <a:solidFill>
                  <a:srgbClr val="FFFFFF"/>
                </a:solidFill>
                <a:latin typeface="Consolas"/>
              </a:defRPr>
            </a:pPr>
            <a:r>
              <a:t>0%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Deterministic DuckDB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61888"/>
            <a:ext cx="10698480" cy="47548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035040"/>
            <a:ext cx="10332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1F5F9"/>
                </a:solidFill>
                <a:latin typeface="Consolas"/>
              </a:defRPr>
            </a:pPr>
            <a:r>
              <a:t>PROVING CASE: EcoTex Milano S.p.A. (€750k CapEx Facility)  |  DISTRIBUTION: 120,000 Italian Corporate Accounting Firms  |  TEAM: Loop Troops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943600" cy="5486400"/>
          </a:xfrm>
          <a:prstGeom prst="ellipse">
            <a:avLst/>
          </a:prstGeom>
          <a:solidFill>
            <a:srgbClr val="23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4572000"/>
          </a:xfrm>
          <a:prstGeom prst="ellipse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32918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/>
          <a:lstStyle/>
          <a:p>
            <a:pPr algn="ctr">
              <a:defRPr sz="850" b="1">
                <a:solidFill>
                  <a:srgbClr val="38BDF8"/>
                </a:solidFill>
                <a:latin typeface="Consolas"/>
              </a:defRPr>
            </a:pPr>
            <a:r>
              <a:t>●  THE INFORMATION ASYMMETRY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Why 40% of Sound SMEs Face Rejection or Rate Spikes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SMEs apply to banks blindfolded, triggering delays, covenant breaches, and mispriced loans.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029200" cy="4434840"/>
          </a:xfrm>
          <a:prstGeom prst="roundRect">
            <a:avLst/>
          </a:prstGeom>
          <a:solidFill>
            <a:srgbClr val="140B11"/>
          </a:solidFill>
          <a:ln w="15240">
            <a:solidFill>
              <a:srgbClr val="501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1801368"/>
            <a:ext cx="4882896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48056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THE STATUS QUO // 21-DAY BLACK BOX</a:t>
            </a:r>
          </a:p>
          <a:p>
            <a:pPr>
              <a:spcAft>
                <a:spcPts val="12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Borrowing in the Dark</a:t>
            </a:r>
          </a:p>
          <a:p>
            <a:pPr>
              <a:defRPr sz="1150" b="1">
                <a:solidFill>
                  <a:srgbClr val="FB7185"/>
                </a:solidFill>
                <a:latin typeface="Segoe UI"/>
              </a:defRPr>
            </a:pPr>
            <a:r>
              <a:t>✖  The Information Asymmetry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SMEs have no visibility into how credit algorithms evaluate their risk.</a:t>
            </a:r>
            <a:br/>
            <a:r>
              <a:t>They apply without benchmarking against regional default data.</a:t>
            </a:r>
            <a:br/>
            <a:r>
              <a:t>No tool to simulate debt limits before formal application.</a:t>
            </a:r>
            <a:br/>
            <a:r>
              <a:t>Leads to preventable rejections and higher interest margins.</a:t>
            </a:r>
          </a:p>
          <a:p>
            <a:pPr>
              <a:defRPr sz="1150" b="1">
                <a:solidFill>
                  <a:srgbClr val="FB7185"/>
                </a:solidFill>
                <a:latin typeface="Segoe UI"/>
              </a:defRPr>
            </a:pPr>
            <a:r>
              <a:t>✖  The Latency Penalty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The 3-Week Bureaucratic Black Hole: assembling financial reports and ESG proof takes weeks of manual work.</a:t>
            </a:r>
            <a:br/>
            <a:r>
              <a:t>Bank underwriters manually re-key accounting data into spreadsheets.</a:t>
            </a:r>
            <a:br/>
            <a:r>
              <a:t>Capex machinery investments stall, delaying business growth.</a:t>
            </a:r>
          </a:p>
          <a:p>
            <a:pPr>
              <a:defRPr sz="1150" b="1">
                <a:solidFill>
                  <a:srgbClr val="FB7185"/>
                </a:solidFill>
                <a:latin typeface="Segoe UI"/>
              </a:defRPr>
            </a:pPr>
            <a:r>
              <a:t>✖  The ESG Monetization Gap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Unrewarded Sustainability: SMEs invest in decarbonization without proof.</a:t>
            </a:r>
            <a:br/>
            <a:r>
              <a:t>Banks fail to recognize green capex due to lack of verifiable data.</a:t>
            </a:r>
            <a:br/>
            <a:r>
              <a:t>Companies miss subsidized loan rates and regional transition grants.</a:t>
            </a:r>
          </a:p>
        </p:txBody>
      </p:sp>
      <p:sp>
        <p:nvSpPr>
          <p:cNvPr id="10" name="Oval 9"/>
          <p:cNvSpPr/>
          <p:nvPr/>
        </p:nvSpPr>
        <p:spPr>
          <a:xfrm>
            <a:off x="5815584" y="3566160"/>
            <a:ext cx="566928" cy="566928"/>
          </a:xfrm>
          <a:prstGeom prst="ellipse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1783080"/>
            <a:ext cx="5029200" cy="4434840"/>
          </a:xfrm>
          <a:prstGeom prst="roundRect">
            <a:avLst/>
          </a:prstGeom>
          <a:solidFill>
            <a:srgbClr val="08181A"/>
          </a:solidFill>
          <a:ln w="15240">
            <a:solidFill>
              <a:srgbClr val="104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01384" y="1801368"/>
            <a:ext cx="488289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1920240"/>
            <a:ext cx="448056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FINSIGHT AI // DETERMINISTIC CERTAINTY</a:t>
            </a:r>
          </a:p>
          <a:p>
            <a:pPr>
              <a:spcAft>
                <a:spcPts val="1200"/>
              </a:spcAft>
              <a:defRPr sz="2100" b="1">
                <a:solidFill>
                  <a:srgbClr val="FFFFFF"/>
                </a:solidFill>
                <a:latin typeface="Segoe UI"/>
              </a:defRPr>
            </a:pPr>
            <a:r>
              <a:t>The Algorithmic Advantage</a:t>
            </a:r>
          </a:p>
          <a:p>
            <a:pPr>
              <a:defRPr sz="1150" b="1">
                <a:solidFill>
                  <a:srgbClr val="34D399"/>
                </a:solidFill>
                <a:latin typeface="Segoe UI"/>
              </a:defRPr>
            </a:pPr>
            <a:r>
              <a:t>✔  Instant Pre-Underwriting (14s)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In-memory DuckDB parses official CEE balance sheets in RAM, computing exact DSCR, leverage, and solvency benchmarks before bank submission.</a:t>
            </a:r>
          </a:p>
          <a:p>
            <a:pPr>
              <a:defRPr sz="1150" b="1">
                <a:solidFill>
                  <a:srgbClr val="34D399"/>
                </a:solidFill>
                <a:latin typeface="Segoe UI"/>
              </a:defRPr>
            </a:pPr>
            <a:r>
              <a:t>✔  Banca d'Italia Macro Fusion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Integrates provincial default rates (Milan NPL: 1.82%) and Lombardia sector trends (+4.1% YoY) directly into credit bargaining leverage.</a:t>
            </a:r>
          </a:p>
          <a:p>
            <a:pPr>
              <a:defRPr sz="1150" b="1">
                <a:solidFill>
                  <a:srgbClr val="34D399"/>
                </a:solidFill>
                <a:latin typeface="Segoe UI"/>
              </a:defRPr>
            </a:pPr>
            <a:r>
              <a:t>✔  Capitalized Green Proof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Vector RAG extracts verified ISO and ZDHC audit disclosures to secure subsidized prime rates (-45 bps) and regional transition grants.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82512"/>
            <a:ext cx="1069848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37376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DUCKDB 1.0 IN-MEMORY OLAP  |  APPLICATION ID: ECOTEX-2026-IT  |  EBA/GL/2020/06 COMPLIANT  |  TUB ART. 128-SEXIES SEAL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943600" cy="5486400"/>
          </a:xfrm>
          <a:prstGeom prst="ellipse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4572000"/>
          </a:xfrm>
          <a:prstGeom prst="ellipse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32918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/>
          <a:lstStyle/>
          <a:p>
            <a:pPr algn="ctr">
              <a:defRPr sz="850" b="1">
                <a:solidFill>
                  <a:srgbClr val="38BDF8"/>
                </a:solidFill>
                <a:latin typeface="Consolas"/>
              </a:defRPr>
            </a:pPr>
            <a:r>
              <a:t>●  PROPRIETARY MECHANISM &amp;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The 4-Stage Architecture: In-Memory, Deterministic, Auditable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Zero mathematical hallucination: combining high-speed analytics with evidence-based AI synthesis.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57400"/>
            <a:ext cx="941832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2560320" cy="434340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1892807"/>
            <a:ext cx="2414016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65960"/>
            <a:ext cx="384048" cy="384048"/>
          </a:xfrm>
          <a:prstGeom prst="ellipse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219456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STAGE 01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DuckDB 1.0 (Live OLAP)</a:t>
            </a:r>
          </a:p>
          <a:p>
            <a:pPr>
              <a:spcAft>
                <a:spcPts val="800"/>
              </a:spcAft>
              <a:defRPr sz="950" b="1">
                <a:solidFill>
                  <a:srgbClr val="38BDF8"/>
                </a:solidFill>
                <a:latin typeface="Consolas"/>
              </a:defRPr>
            </a:pPr>
            <a:r>
              <a:t>[&lt; 4ms Latency]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High-performance columnar SQL engine.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Dynamic drag-and-drop ingestion of CSV &amp; PDF balance sheets.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Sub-second parsing directly in RAM.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Total data sovereignty: financial records remain local with zero cloud leaks.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874519"/>
            <a:ext cx="2560320" cy="434340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892807"/>
            <a:ext cx="2414016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0168" y="1965960"/>
            <a:ext cx="384048" cy="384048"/>
          </a:xfrm>
          <a:prstGeom prst="ellipse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900" b="1">
                <a:solidFill>
                  <a:srgbClr val="6366F1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450592"/>
            <a:ext cx="219456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Consolas"/>
              </a:defRPr>
            </a:pPr>
            <a:r>
              <a:t>STAGE 02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Banca d'Italia &amp; OpenData</a:t>
            </a:r>
          </a:p>
          <a:p>
            <a:pPr>
              <a:spcAft>
                <a:spcPts val="800"/>
              </a:spcAft>
              <a:defRPr sz="950" b="1">
                <a:solidFill>
                  <a:srgbClr val="6366F1"/>
                </a:solidFill>
                <a:latin typeface="Consolas"/>
              </a:defRPr>
            </a:pPr>
            <a:r>
              <a:t>[1.82% NPL]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Real-time integration of central bank provincial credit default rates (Milan NPL: 1.82%).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Dynamic sync with Open Data Lombardia sector growth (+4.1% YoY).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Transforms local macroeconomic context into rate bargaining power.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874519"/>
            <a:ext cx="2560320" cy="434340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892807"/>
            <a:ext cx="2414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45936" y="1965960"/>
            <a:ext cx="384048" cy="384048"/>
          </a:xfrm>
          <a:prstGeom prst="ellipse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900" b="1">
                <a:solidFill>
                  <a:srgbClr val="10B981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450592"/>
            <a:ext cx="219456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STAGE 03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Python 3.11 &amp; Pydantic</a:t>
            </a:r>
          </a:p>
          <a:p>
            <a:pPr>
              <a:spcAft>
                <a:spcPts val="800"/>
              </a:spcAft>
              <a:defRPr sz="950" b="1">
                <a:solidFill>
                  <a:srgbClr val="10B981"/>
                </a:solidFill>
                <a:latin typeface="Consolas"/>
              </a:defRPr>
            </a:pPr>
            <a:r>
              <a:t>[100% Deterministic]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Mathematical computation of DSCR (3.37x base), Net Debt/EBITDA, and Quick Ratios.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Bank-grade credit scoring rules executed via hard-coded formulas.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Golden Rule: The LLM is NEVER the financial calculator.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78824" y="1874519"/>
            <a:ext cx="2560320" cy="434340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892807"/>
            <a:ext cx="2414016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61704" y="1965960"/>
            <a:ext cx="384048" cy="384048"/>
          </a:xfrm>
          <a:prstGeom prst="ellipse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900" b="1">
                <a:solidFill>
                  <a:srgbClr val="A855F7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4" y="2450592"/>
            <a:ext cx="219456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A855F7"/>
                </a:solidFill>
                <a:latin typeface="Consolas"/>
              </a:defRPr>
            </a:pPr>
            <a:r>
              <a:t>STAGE 04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Multi-Tenant &amp; Streamlit</a:t>
            </a:r>
          </a:p>
          <a:p>
            <a:pPr>
              <a:spcAft>
                <a:spcPts val="800"/>
              </a:spcAft>
              <a:defRPr sz="950" b="1">
                <a:solidFill>
                  <a:srgbClr val="A855F7"/>
                </a:solidFill>
                <a:latin typeface="Consolas"/>
              </a:defRPr>
            </a:pPr>
            <a:r>
              <a:t>[SHA-256 Seal]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Role-based authentication (SME CFO vs Accounting Advisor).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Multi-client portfolio management for corporate accountants.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Semantic vector extraction of ESG audit disclosures.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• Enterprise terminal delivering certified dossiers in 14s.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382512"/>
            <a:ext cx="1069848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437376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DUCKDB 1.0 IN-MEMORY OLAP  |  APPLICATION ID: ECOTEX-2026-IT  |  EBA/GL/2020/06 COMPLIANT  |  TUB ART. 128-SEXIES SEAL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943600" cy="5486400"/>
          </a:xfrm>
          <a:prstGeom prst="ellipse">
            <a:avLst/>
          </a:prstGeom>
          <a:solidFill>
            <a:srgbClr val="09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4572000"/>
          </a:xfrm>
          <a:prstGeom prst="ellipse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32918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/>
          <a:lstStyle/>
          <a:p>
            <a:pPr algn="ctr">
              <a:defRPr sz="850" b="1">
                <a:solidFill>
                  <a:srgbClr val="38BDF8"/>
                </a:solidFill>
                <a:latin typeface="Consolas"/>
              </a:defRPr>
            </a:pPr>
            <a:r>
              <a:t>●  LIVE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EcoTex Milano: Live Ingestion &amp; Pre-Underwriting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Drag-and-drop balance sheet into DuckDB, instant scoring, and stress-testing loan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560320" cy="137160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1801368"/>
            <a:ext cx="2414016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219456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FINANCIAL HEALTH</a:t>
            </a:r>
          </a:p>
          <a:p>
            <a:pPr>
              <a:defRPr sz="2500" b="1">
                <a:solidFill>
                  <a:srgbClr val="38BDF8"/>
                </a:solidFill>
                <a:latin typeface="Consolas"/>
              </a:defRPr>
            </a:pPr>
            <a:r>
              <a:t>97 / 100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Prime Solvency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560320" cy="137160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801368"/>
            <a:ext cx="2414016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874519"/>
            <a:ext cx="219456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ESG ALIGNMENT</a:t>
            </a:r>
          </a:p>
          <a:p>
            <a:pPr>
              <a:defRPr sz="2500" b="1">
                <a:solidFill>
                  <a:srgbClr val="34D399"/>
                </a:solidFill>
                <a:latin typeface="Consolas"/>
              </a:defRPr>
            </a:pPr>
            <a:r>
              <a:t>95 / 100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Top Decile Green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783080"/>
            <a:ext cx="2560320" cy="137160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801368"/>
            <a:ext cx="2414016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874519"/>
            <a:ext cx="219456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TERRITORIAL RISK</a:t>
            </a:r>
          </a:p>
          <a:p>
            <a:pPr>
              <a:defRPr sz="2500" b="1">
                <a:solidFill>
                  <a:srgbClr val="F59E0B"/>
                </a:solidFill>
                <a:latin typeface="Consolas"/>
              </a:defRPr>
            </a:pPr>
            <a:r>
              <a:t>1.82%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Milan Default Benchmark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8824" y="1783080"/>
            <a:ext cx="2560320" cy="137160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51976" y="1801368"/>
            <a:ext cx="2414016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1874519"/>
            <a:ext cx="219456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BANKABILITY OUTCOME</a:t>
            </a:r>
          </a:p>
          <a:p>
            <a:pPr>
              <a:defRPr sz="2500" b="1">
                <a:solidFill>
                  <a:srgbClr val="10B981"/>
                </a:solidFill>
                <a:latin typeface="Consolas"/>
              </a:defRPr>
            </a:pPr>
            <a:r>
              <a:t>APPROVE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5.15% Prime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91840"/>
            <a:ext cx="10698480" cy="114300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" y="3310128"/>
            <a:ext cx="10552176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64992"/>
            <a:ext cx="1033272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Consolas"/>
              </a:defRPr>
            </a:pPr>
            <a:r>
              <a:t>COVENANT HEADROOM GAUGE // SOLVENCY ABSORPTION BUFFER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75887"/>
            <a:ext cx="2583180" cy="219456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97580" y="3675887"/>
            <a:ext cx="774954" cy="21945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2534" y="3675887"/>
            <a:ext cx="6974586" cy="21945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93884" y="3639311"/>
            <a:ext cx="54864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2534" y="3639311"/>
            <a:ext cx="36576" cy="2926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977639"/>
            <a:ext cx="10332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34D399"/>
                </a:solidFill>
                <a:latin typeface="Consolas"/>
              </a:defRPr>
            </a:pPr>
            <a:r>
              <a:t>● Buffer Solvibilità: +2.07x sopra soglia covenant (1.30x)  |  Resiste a shock EBITDA fino a -61.4% prima del default  |  Scala: 0.0x → 4.0x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572000"/>
            <a:ext cx="10698480" cy="169164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" y="4590288"/>
            <a:ext cx="10552176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63440"/>
            <a:ext cx="10332720" cy="1508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BBF24"/>
                </a:solidFill>
                <a:latin typeface="Consolas"/>
              </a:defRPr>
            </a:pPr>
            <a:r>
              <a:t>LIVE INGESTION &amp; WHAT-IF STRESS TESTING (€750k vs €1.0M Tipping Point)</a:t>
            </a:r>
          </a:p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</a:defRPr>
            </a:pPr>
            <a:r>
              <a:t>LIVE DUCKDB INGESTION: Balance sheet parsed in RAM in 0.3s; SHA-256 cryptographic proof generated.</a:t>
            </a:r>
          </a:p>
          <a:p>
            <a:pPr>
              <a:spcAft>
                <a:spcPts val="200"/>
              </a:spcAft>
              <a:defRPr sz="1100" b="1">
                <a:solidFill>
                  <a:srgbClr val="34D399"/>
                </a:solidFill>
                <a:latin typeface="Segoe UI"/>
              </a:defRPr>
            </a:pPr>
            <a:r>
              <a:t>OPTIMAL BASE (€750k): DSCR 2.96x | Health 95/100 | Pre-Approved at prime 5.15% fixed + 15% grant.</a:t>
            </a:r>
          </a:p>
          <a:p>
            <a:pPr>
              <a:spcAft>
                <a:spcPts val="300"/>
              </a:spcAft>
              <a:defRPr sz="1100" b="1">
                <a:solidFill>
                  <a:srgbClr val="FB7185"/>
                </a:solidFill>
                <a:latin typeface="Segoe UI"/>
              </a:defRPr>
            </a:pPr>
            <a:r>
              <a:t>STRESS SCENARIO (€1.0M+): DSCR compresses to 1.35x | Financial Score drops to 74 | REVIEW triggered.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ACTIONABLE CFO GUIDANCE: Avoid €1.0M debt directly. Structure as €750k loan + €250k regional decarbonization grant to retain prime pricing and guarantee 100% approval.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382512"/>
            <a:ext cx="1069848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437376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DUCKDB 1.0 IN-MEMORY OLAP  |  APPLICATION ID: ECOTEX-2026-IT  |  EBA/GL/2020/06 COMPLIANT  |  TUB ART. 128-SEXIES SEAL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943600" cy="5486400"/>
          </a:xfrm>
          <a:prstGeom prst="ellipse">
            <a:avLst/>
          </a:prstGeom>
          <a:solidFill>
            <a:srgbClr val="0C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4572000"/>
          </a:xfrm>
          <a:prstGeom prst="ellipse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32918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/>
          <a:lstStyle/>
          <a:p>
            <a:pPr algn="ctr">
              <a:defRPr sz="850" b="1">
                <a:solidFill>
                  <a:srgbClr val="38BDF8"/>
                </a:solidFill>
                <a:latin typeface="Consolas"/>
              </a:defRPr>
            </a:pPr>
            <a:r>
              <a:t>●  COMMERCIAL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Business Model: High Margin, Low CAC, Self-Funding Value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Transparent pricing for SMEs with highly profitable B2B2C accounting distribution.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443484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1801368"/>
            <a:ext cx="3236976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29260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THE PRICING MODEL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Freemium + Success Fee</a:t>
            </a:r>
          </a:p>
          <a:p>
            <a:pPr>
              <a:spcAft>
                <a:spcPts val="1000"/>
              </a:spcAft>
              <a:defRPr sz="3200" b="1">
                <a:solidFill>
                  <a:srgbClr val="38BDF8"/>
                </a:solidFill>
                <a:latin typeface="Consolas"/>
              </a:defRPr>
            </a:pPr>
            <a:r>
              <a:t>0.5% - 1.0%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Free Bankability Scan: Instant diagnostic to attract SMEs at zero cost.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Success Fee / Dossier Certification: 0.5% - 1.0% paid only upon loan funding.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Average transaction revenue: €3,500 - €7,500 per funded loan dossier.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Pure ROI for the SME: Unlocked interest discount pays for the service 3x 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443484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801368"/>
            <a:ext cx="3236976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29260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onsolas"/>
              </a:defRPr>
            </a:pPr>
            <a:r>
              <a:t>THE SCALABLE CHANNEL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B2B2C Accountant Flywheel</a:t>
            </a:r>
          </a:p>
          <a:p>
            <a:pPr>
              <a:spcAft>
                <a:spcPts val="1000"/>
              </a:spcAft>
              <a:defRPr sz="3200" b="1">
                <a:solidFill>
                  <a:srgbClr val="34D399"/>
                </a:solidFill>
                <a:latin typeface="Consolas"/>
              </a:defRPr>
            </a:pPr>
            <a:r>
              <a:t>120,000 Firms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120,000 corporate accounting firms in Italy manage SME financing.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FinSight provides a white-label 'Credit Readiness Portal' to accountants.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1 accounting partner = 25+ SME loan dossiers annually.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Slashes customer acquisition cost (CAC) to under €250 per company.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383280" cy="443484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801368"/>
            <a:ext cx="3236976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29260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A855F7"/>
                </a:solidFill>
                <a:latin typeface="Consolas"/>
              </a:defRPr>
            </a:pPr>
            <a:r>
              <a:t>UNIT ECONOMICS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Proven Capital Efficiency</a:t>
            </a:r>
          </a:p>
          <a:p>
            <a:pPr>
              <a:spcAft>
                <a:spcPts val="1000"/>
              </a:spcAft>
              <a:defRPr sz="3200" b="1">
                <a:solidFill>
                  <a:srgbClr val="A855F7"/>
                </a:solidFill>
                <a:latin typeface="Consolas"/>
              </a:defRPr>
            </a:pPr>
            <a:r>
              <a:t>20x+ LTV / CAC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Target Deal Size: €500,000 - €1,500,000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Average Revenue per Deal: €5,000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Customer Acquisition Cost (CAC): €250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LTV / CAC Ratio: 20x+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Cash-generative from pilot phase without heavy working capital requirements.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82512"/>
            <a:ext cx="1069848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37376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DUCKDB 1.0 IN-MEMORY OLAP  |  APPLICATION ID: ECOTEX-2026-IT  |  EBA/GL/2020/06 COMPLIANT  |  TUB ART. 128-SEXIES SEAL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943600" cy="5486400"/>
          </a:xfrm>
          <a:prstGeom prst="ellipse">
            <a:avLst/>
          </a:prstGeom>
          <a:solidFill>
            <a:srgbClr val="09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029200" cy="4572000"/>
          </a:xfrm>
          <a:prstGeom prst="ellipse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"/>
            <a:ext cx="3291840" cy="25603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27432"/>
          <a:lstStyle/>
          <a:p>
            <a:pPr algn="ctr">
              <a:defRPr sz="850" b="1">
                <a:solidFill>
                  <a:srgbClr val="38BDF8"/>
                </a:solidFill>
                <a:latin typeface="Consolas"/>
              </a:defRPr>
            </a:pPr>
            <a:r>
              <a:t>●  IMPLEMENTATION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698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Execution Plan: From Pilot to Enterprise SME Gateway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focused 3-step operational rollout driving rapid regional traction.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443484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1801368"/>
            <a:ext cx="3236976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29260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34D399"/>
                </a:solidFill>
                <a:latin typeface="Consolas"/>
              </a:defRPr>
            </a:pPr>
            <a:r>
              <a:t>STEP 1 / 30-DAY PILOT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Regional Industry Rollout</a:t>
            </a:r>
          </a:p>
          <a:p>
            <a:pPr>
              <a:spcAft>
                <a:spcPts val="1000"/>
              </a:spcAft>
              <a:defRPr sz="3200" b="1">
                <a:solidFill>
                  <a:srgbClr val="34D399"/>
                </a:solidFill>
                <a:latin typeface="Consolas"/>
              </a:defRPr>
            </a:pPr>
            <a:r>
              <a:t>€ 25M Volume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Deploy with 5 pilot manufacturing accounting firms in Lombardia.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Benchmark 50 live SME equipment loan dossiers.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Validate €25M in requested facility volume with partner regional banks.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Metric: 100% dossier approval 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383280" cy="443484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801368"/>
            <a:ext cx="3236976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29260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Consolas"/>
              </a:defRPr>
            </a:pPr>
            <a:r>
              <a:t>STEP 2 / 90-DAY SCALE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Multi-Lender Marketplace</a:t>
            </a:r>
          </a:p>
          <a:p>
            <a:pPr>
              <a:spcAft>
                <a:spcPts val="1000"/>
              </a:spcAft>
              <a:defRPr sz="3200" b="1">
                <a:solidFill>
                  <a:srgbClr val="38BDF8"/>
                </a:solidFill>
                <a:latin typeface="Consolas"/>
              </a:defRPr>
            </a:pPr>
            <a:r>
              <a:t>€ 100M Volume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Expand distribution via regional industrial associations (Confindustria).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Onboard 15 digital credit funds &amp; commercial banks to compete for deals.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Launch automated regional green grant matching module.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Target: €100M originated facility volume.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383280" cy="4434840"/>
          </a:xfrm>
          <a:prstGeom prst="roundRect">
            <a:avLst/>
          </a:prstGeom>
          <a:solidFill>
            <a:srgbClr val="0D1320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801368"/>
            <a:ext cx="3236976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29260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850" b="1">
                <a:solidFill>
                  <a:srgbClr val="6366F1"/>
                </a:solidFill>
                <a:latin typeface="Consolas"/>
              </a:defRPr>
            </a:pPr>
            <a:r>
              <a:t>STEP 3 / 12-MONTH OS</a:t>
            </a:r>
          </a:p>
          <a:p>
            <a:pPr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The Corporate Capital Gateway</a:t>
            </a:r>
          </a:p>
          <a:p>
            <a:pPr>
              <a:spcAft>
                <a:spcPts val="1000"/>
              </a:spcAft>
              <a:defRPr sz="3200" b="1">
                <a:solidFill>
                  <a:srgbClr val="6366F1"/>
                </a:solidFill>
                <a:latin typeface="Consolas"/>
              </a:defRPr>
            </a:pPr>
            <a:r>
              <a:t>€ 500M+ Run-Rate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Expand from debt origination to continuous SME treasury intelligence.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Automated covenant monitoring and working capital optimization.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The definitive financial operating system for European SME capital.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Pan-European expansion into DACH and France.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82512"/>
            <a:ext cx="1069848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37376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Consolas"/>
              </a:defRPr>
            </a:pPr>
            <a:r>
              <a:t>DUCKDB 1.0 IN-MEMORY OLAP  |  APPLICATION ID: ECOTEX-2026-IT  |  EBA/GL/2020/06 COMPLIANT  |  TUB ART. 128-SEXIES SEAL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