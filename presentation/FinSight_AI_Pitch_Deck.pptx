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AI2B HACKATHON 2026 • COMMERCIAL BANKING VERTICAL SLICE</a:t>
            </a:r>
          </a:p>
          <a:p>
            <a:pPr>
              <a:spcAft>
                <a:spcPts val="1000"/>
              </a:spcAft>
              <a:defRPr sz="5400" b="1">
                <a:solidFill>
                  <a:srgbClr val="FFFFFF"/>
                </a:solidFill>
              </a:defRPr>
            </a:pPr>
            <a:r>
              <a:t>FinSight AI</a:t>
            </a:r>
          </a:p>
          <a:p>
            <a:pPr>
              <a:spcAft>
                <a:spcPts val="2000"/>
              </a:spcAft>
              <a:defRPr sz="2200">
                <a:solidFill>
                  <a:srgbClr val="38BDF8"/>
                </a:solidFill>
              </a:defRPr>
            </a:pPr>
            <a:r>
              <a:t>Autonomous Financial Intelligence &amp; Credit Decision Engine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Turning fragmented balance sheets, public economic data, and narrative ESG claims</a:t>
            </a:r>
            <a:br/>
            <a:r>
              <a:t>into explainable, deterministic credit intelligence in under 10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1033272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4406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TEAM: Loop Troops   |   CASE: EcoTex Milano (€750k Green Loan)   |   CORE PRINCIPLE: The LLM is NOT the calculator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MARKET FRICTION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€400B Blindspot in SME Commercial Lending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Relationship Managers spend 3 weeks stitching fragmented evidence while loans stall.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SILO 1: FINANCIAL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Proprietary ERP &amp; Balance Sheets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Historical, backwards-looking data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Trapped in unstructured PDF reports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Manual ratio calculations prone to human latency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Takes 4 to 8 hours per dossier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SILO 2: MACRO &amp; REGIONAL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Public Benchmarks &amp; Bank of Italy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Banca d'Italia credit default series rarely integrated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Regional open data (Lombardia) ignored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Underwriters miss local sector trends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Mispricing of regional risk spreads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SILO 3: SUSTAINABILITY &amp; ESG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Narrative Audits &amp; Green Taxonomy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Unverified sustainability claims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Compliance checklists create cognitive fatigue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quantitative link between ESG and default risk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€400B green loan backlog across the 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PRODUCT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FinSight AI: The Grounded Decision Engine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An AI-powered co-pilot that evaluates credit, tests capital boundaries, and proves every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 / MULTI-SOURCE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Unified Data Fabric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Ingests company balance sheets into DuckDB, queries live Banca d'Italia credit benchmarks, and syncs Open Data Lombardia sector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 / GROUNDED 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Zero Black-Box Guessing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Every recommendation is backed by a verified audit trail separating verified FACT, deterministic CALCULATION, and synthesized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 / INSTANT SCENARIO STRESS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Capital Tipping Points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Interactive what-if sensitivity: instantly recalculates DSCR, leverage, and decision thresholds when facility sizing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Golden Rule: The LLM is NOT the Calculator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Deterministic truth computes the score. The AI engine orchestrates and explains.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DETERMINISTIC CORE (ZERO HALLUCINATION)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Mathematical &amp; Rule-Based Analytics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Structured Ingestion: DuckDB high-performance columnar engine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Quantitative Scoring: Liquidity (25%), Leverage (25%), Growth (20%), Sector (15%), Regional (15%)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Sensitivity Engine: Formulaic DSCR &amp; Debt/EBITDA models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Regulatory Consistency: Same input guarantees exact same score every single execution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EVIDENCE ENGINE (SEMANTIC RIGOR)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Context Synthesis &amp; Tool Routing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Hybrid RAG: Chunking &amp; semantic search over audit disclosures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Public Benchmark Routing: Banca d'Italia + Open Data Lombardia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Synthesis Layer: Translates quantitative data into RM rationale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Strict Governance: Categorizes outputs into FACT, CALCULATION, and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LIVE EXECUTION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Base Case: EcoTex Milano €750k Facility Evaluation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Evaluating equipment financing for sustainable dyeing &amp; closed-loop water recycling.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FINANCIAL HEALTH</a:t>
            </a:r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82/100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Safe (&gt;70)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ESG ALIGNMENT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91/100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Top Decile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REGIONAL DEFAULT SPREAD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1.82%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Milan vs IT 2.95%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DECISION OUTPUT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APPROVE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87%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199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VISUAL AI DECISION TRACE &amp; EVIDENCE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1. Ingestion: Request validated -&gt; 2. DuckDB: €14.2M Rev, 18.5% EBITDA -&gt; 3. BdI: Milan 1.82% NPL</a:t>
            </a:r>
          </a:p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4. Lombardia: Sector +4.1% YoY -&gt; 5. RAG: -42% Water Audit Verified -&gt; 6. Deterministic Score -&gt; 7. APPROVE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Grounded Evidence: Banca d'Italia commercial credit database confirms Milanese default rates support standard pricing. EcoTex 2024 ESG audit validates project additionality and eligibility for regional transition capital subsidies.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INTERACTIVE CAPITAL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What-If Engine: Finding the Capital Tipping Point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When the client asks for €1,000,000, what happens to risk, coverage, and approval?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BASE CASE FACILITY: €750,000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Status: APPROVE (87% Confidence)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Financial Health Score: 82 / 100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Projected DSCR: 1.68x (Resilient debt service buffer)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Net Debt / EBITDA: 1.35x (Conservative leverage)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Composite Risk: Medium Risk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Recommendation: Standard commercial loan committee approval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WHAT-IF SCENARIO: €1,000,000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Status: REVIEW (Underwriter Alert)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Financial Health Score: 74 / 100 (Drop of 8 points)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Projected DSCR: 1.28x (Breaches safe covenant threshold)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Net Debt / EBITDA: 1.95x (Elevated debt burden)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Composite Risk: High Risk Tier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Recommendation: Escalation required; requires covenant guarantees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COMMERCIAL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From 14 Days to 14 Seconds: Strategic Value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Quantifiable efficiency, compliance assurance, and higher lending margins.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-85% Underwriting Time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Cuts preliminary credit assessment from 14 business days to under 15 seconds, allowing RMs to handle 4x deal volume without adding analyst headcount.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100% Audit Traceability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Fully compliant with EBA loan origination guidelines and EU CSRD reporting. Every claim is attributed to exact public and audited 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RISK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Zero Calculator Hallucination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Eliminates generative AI liability. Credit committees gain deterministic mathematical safety combined with natural language intelligence.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PLATFORM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Horizon: Autonomous Portfolio Intelligence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SME credit is our proving ground. The same engine expands across the bank.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PHASE 1: PRESENT SLICE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SME Credit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Single loan proposal analysis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DuckDB structured layer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Banca d'Italia &amp; Lombardia data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Deterministic scoring &amp; What-If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PHASE 2: COMMERCIAL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Portfolio Stress Testing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covenant monitoring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Sector-wide macro shock simulation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Continuous early-warning signals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Climate transition risk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PHASE 3: WEALTH &amp; ADVISORY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Enterprise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Private wealth advisory co-pilot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Multi-asset liquidity optimization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Cross-border regulatory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Autonomous corporate deal structuring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