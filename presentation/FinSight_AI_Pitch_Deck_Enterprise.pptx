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C31"/>
    <a:srgbClr val="6B3305"/>
    <a:srgbClr val="00823B"/>
    <a:srgbClr val="38B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7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3">
            <a:extLst>
              <a:ext uri="{FF2B5EF4-FFF2-40B4-BE49-F238E27FC236}">
                <a16:creationId xmlns:a16="http://schemas.microsoft.com/office/drawing/2014/main" id="{D1F6FBB5-A2AE-DB58-C07B-4469EE231EAF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2">
            <a:extLst>
              <a:ext uri="{FF2B5EF4-FFF2-40B4-BE49-F238E27FC236}">
                <a16:creationId xmlns:a16="http://schemas.microsoft.com/office/drawing/2014/main" id="{348A128A-76F3-235A-7F3B-90922DB548A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C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40" dirty="0">
                <a:solidFill>
                  <a:srgbClr val="FFFFFF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300" b="1" i="0" spc="130">
                <a:solidFill>
                  <a:srgbClr val="38BDF8"/>
                </a:solidFill>
                <a:latin typeface="Arial"/>
              </a:rPr>
              <a:t>AUTONOMOUS SME CREDIT READINESS &amp; CAPITAL SIZING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12848"/>
            <a:ext cx="11277295" cy="132676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800" b="1" i="0" dirty="0" err="1">
                <a:solidFill>
                  <a:srgbClr val="FFFFFF"/>
                </a:solidFill>
                <a:latin typeface="Arial"/>
              </a:rPr>
              <a:t>FinSight</a:t>
            </a:r>
            <a:r>
              <a:rPr sz="3800" b="1" i="0" dirty="0">
                <a:solidFill>
                  <a:srgbClr val="FFFFFF"/>
                </a:solidFill>
                <a:latin typeface="Arial"/>
              </a:rPr>
              <a:t> AI </a:t>
            </a:r>
            <a:endParaRPr lang="it-IT" sz="3800" b="1" i="0" dirty="0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3200" b="1" i="0" dirty="0">
                <a:solidFill>
                  <a:srgbClr val="FFFFFF"/>
                </a:solidFill>
                <a:latin typeface="Arial"/>
              </a:rPr>
              <a:t>Pre-Underwriting</a:t>
            </a:r>
            <a:r>
              <a:rPr lang="it-IT" sz="320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3200" b="1" i="0" dirty="0">
                <a:solidFill>
                  <a:srgbClr val="FFFFFF"/>
                </a:solidFill>
                <a:latin typeface="Arial"/>
              </a:rPr>
              <a:t>European SME Debt in 14 Seconds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63040" y="3913632"/>
            <a:ext cx="9265615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94A3B8"/>
                </a:solidFill>
                <a:latin typeface="Arial"/>
              </a:rPr>
              <a:t>Turning balance sheets, central bank NPL metrics, and ESG disclosures into certified bank dossiers.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81904" y="4617720"/>
            <a:ext cx="1828800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0662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IN-MEMORY DUCKDB 1.0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278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BANCA D'ITALIA NPL FUSE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8948" y="507492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EBA GL/2020/06 CERTIFIED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97AF3B7C-15A1-643A-86E1-BFDD7E93C9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4" r="22194"/>
          <a:stretch/>
        </p:blipFill>
        <p:spPr>
          <a:xfrm>
            <a:off x="5567595" y="637794"/>
            <a:ext cx="1056809" cy="10355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2">
            <a:extLst>
              <a:ext uri="{FF2B5EF4-FFF2-40B4-BE49-F238E27FC236}">
                <a16:creationId xmlns:a16="http://schemas.microsoft.com/office/drawing/2014/main" id="{BA286858-979A-86A5-BEB8-A855BDD5EEFD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6B3305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8" name="Oval 3">
            <a:extLst>
              <a:ext uri="{FF2B5EF4-FFF2-40B4-BE49-F238E27FC236}">
                <a16:creationId xmlns:a16="http://schemas.microsoft.com/office/drawing/2014/main" id="{830AAC6C-D474-7144-4A2C-AD2D023425AE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F59E0B"/>
                </a:solidFill>
                <a:latin typeface="Arial"/>
              </a:rPr>
              <a:t>PROBLEM &amp; MARKET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Why 40% of Creditworthy SMEs Face Rejection or Rate Spikes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INFORMATION VOID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51560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51560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SMEs apply blind without provincial default benchmarking.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9658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749698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9698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3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7" y="4315968"/>
            <a:ext cx="2821141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3-WEEK BLACK BOX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49698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49698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Manual re-keying stalls </a:t>
            </a:r>
            <a:r>
              <a:rPr sz="1300" b="0" i="0" dirty="0" err="1">
                <a:solidFill>
                  <a:srgbClr val="94A3B8"/>
                </a:solidFill>
                <a:latin typeface="Arial"/>
              </a:rPr>
              <a:t>CapEx</a:t>
            </a:r>
            <a:r>
              <a:rPr sz="1300" b="0" i="0" dirty="0">
                <a:solidFill>
                  <a:srgbClr val="94A3B8"/>
                </a:solidFill>
                <a:latin typeface="Arial"/>
              </a:rPr>
              <a:t> while competitors move.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127796" y="228600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47836" y="2697480"/>
            <a:ext cx="502920" cy="502920"/>
          </a:xfrm>
          <a:prstGeom prst="ellipse">
            <a:avLst/>
          </a:prstGeom>
          <a:solidFill>
            <a:srgbClr val="0B0F19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i="0">
                <a:solidFill>
                  <a:srgbClr val="F59E0B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3474720"/>
            <a:ext cx="2692298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1" i="0">
                <a:solidFill>
                  <a:srgbClr val="F59E0B"/>
                </a:solidFill>
                <a:latin typeface="Arial"/>
              </a:rPr>
              <a:t>€10K+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7836" y="4315968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1" i="0" dirty="0">
                <a:solidFill>
                  <a:srgbClr val="FFFFFF"/>
                </a:solidFill>
                <a:latin typeface="Arial"/>
              </a:rPr>
              <a:t>THE ESG PENALTY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47836" y="4919472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47836" y="5102352"/>
            <a:ext cx="2692298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300" b="0" i="0" dirty="0">
                <a:solidFill>
                  <a:srgbClr val="94A3B8"/>
                </a:solidFill>
                <a:latin typeface="Arial"/>
              </a:rPr>
              <a:t>Lost in green interest discounts due to unverifiable sustainability data.</a:t>
            </a:r>
            <a:r>
              <a:rPr lang="it-IT" sz="1300" b="0" i="0" dirty="0">
                <a:solidFill>
                  <a:srgbClr val="94A3B8"/>
                </a:solidFill>
                <a:latin typeface="Arial"/>
              </a:rPr>
              <a:t>**</a:t>
            </a:r>
            <a:endParaRPr sz="130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867DB9A-1576-AC42-55D2-4829A05A9D14}"/>
              </a:ext>
            </a:extLst>
          </p:cNvPr>
          <p:cNvSpPr txBox="1"/>
          <p:nvPr/>
        </p:nvSpPr>
        <p:spPr>
          <a:xfrm>
            <a:off x="3611840" y="6269102"/>
            <a:ext cx="4835996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*https://www.ecb.europa.eu/stats/ecb_surveys/safe/html/index.en.html</a:t>
            </a:r>
            <a:b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100" b="0" i="0" dirty="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**</a:t>
            </a: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https://eur-lex.europa.eu/legal-content/IT/TXT/?uri=CELEX:32022L2464</a:t>
            </a:r>
          </a:p>
        </p:txBody>
      </p:sp>
      <p:pic>
        <p:nvPicPr>
          <p:cNvPr id="30" name="Immagine 29">
            <a:extLst>
              <a:ext uri="{FF2B5EF4-FFF2-40B4-BE49-F238E27FC236}">
                <a16:creationId xmlns:a16="http://schemas.microsoft.com/office/drawing/2014/main" id="{3448DF93-9B17-8C51-7736-230BB5009A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">
            <a:extLst>
              <a:ext uri="{FF2B5EF4-FFF2-40B4-BE49-F238E27FC236}">
                <a16:creationId xmlns:a16="http://schemas.microsoft.com/office/drawing/2014/main" id="{1D1DD5C8-51F7-2B0D-8123-9193885873A4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2">
            <a:extLst>
              <a:ext uri="{FF2B5EF4-FFF2-40B4-BE49-F238E27FC236}">
                <a16:creationId xmlns:a16="http://schemas.microsoft.com/office/drawing/2014/main" id="{B0DF1433-223E-5605-7A86-4D942F2129F3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03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ARCHITECTURE &amp;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The 4-Stage Deterministic Engine: </a:t>
            </a:r>
            <a:br>
              <a:rPr lang="it-IT" sz="2900" b="1" i="0" dirty="0">
                <a:solidFill>
                  <a:srgbClr val="FFFFFF"/>
                </a:solidFill>
                <a:latin typeface="Arial"/>
              </a:rPr>
            </a:br>
            <a:r>
              <a:rPr sz="2900" b="1" i="0" dirty="0">
                <a:solidFill>
                  <a:srgbClr val="FFFFFF"/>
                </a:solidFill>
                <a:latin typeface="Arial"/>
              </a:rPr>
              <a:t>Zero Cloud Leaks, Zero LLM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DUCKDB LAKEHOUSE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Columnar OLAP in RAM</a:t>
            </a:r>
            <a:r>
              <a:rPr lang="it-IT" sz="1150" dirty="0">
                <a:solidFill>
                  <a:srgbClr val="94A3B8"/>
                </a:solidFill>
                <a:latin typeface="Arial"/>
              </a:rPr>
              <a:t>,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sub-second balance sheet parsing.</a:t>
            </a:r>
          </a:p>
        </p:txBody>
      </p:sp>
      <p:sp>
        <p:nvSpPr>
          <p:cNvPr id="11" name="Chevron 10"/>
          <p:cNvSpPr/>
          <p:nvPr/>
        </p:nvSpPr>
        <p:spPr>
          <a:xfrm>
            <a:off x="3034208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46272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84016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84016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784016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 dirty="0">
                <a:solidFill>
                  <a:srgbClr val="FFFFFF"/>
                </a:solidFill>
                <a:latin typeface="Arial"/>
              </a:rPr>
              <a:t>CENTRAL BANK 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016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 dirty="0">
                <a:solidFill>
                  <a:srgbClr val="94A3B8"/>
                </a:solidFill>
                <a:latin typeface="Arial"/>
              </a:rPr>
              <a:t>Banca d'Italia provincial NPL (Milan 1.82%) + Open Data </a:t>
            </a:r>
            <a:r>
              <a:rPr sz="1150" b="0" i="0" dirty="0" err="1">
                <a:solidFill>
                  <a:srgbClr val="94A3B8"/>
                </a:solidFill>
                <a:latin typeface="Arial"/>
              </a:rPr>
              <a:t>Lombardia</a:t>
            </a:r>
            <a:r>
              <a:rPr sz="1150" b="0" i="0" dirty="0">
                <a:solidFill>
                  <a:srgbClr val="94A3B8"/>
                </a:solidFill>
                <a:latin typeface="Arial"/>
              </a:rPr>
              <a:t> (+4.1%).</a:t>
            </a:r>
            <a:r>
              <a:rPr lang="it-IT" sz="1150" b="0" i="0" dirty="0">
                <a:solidFill>
                  <a:srgbClr val="94A3B8"/>
                </a:solidFill>
                <a:latin typeface="Arial"/>
              </a:rPr>
              <a:t>*</a:t>
            </a:r>
            <a:endParaRPr sz="11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5848960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61024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98768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8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98768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DETERMINISTIC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8768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Python CRO rules computing DSCR (2.96x) and leverage covenants.</a:t>
            </a:r>
          </a:p>
        </p:txBody>
      </p:sp>
      <p:sp>
        <p:nvSpPr>
          <p:cNvPr id="23" name="Chevron 22"/>
          <p:cNvSpPr/>
          <p:nvPr/>
        </p:nvSpPr>
        <p:spPr>
          <a:xfrm>
            <a:off x="8663712" y="3707892"/>
            <a:ext cx="310896" cy="310896"/>
          </a:xfrm>
          <a:prstGeom prst="chevron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75776" y="2331720"/>
            <a:ext cx="2284400" cy="30632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3520" y="2606040"/>
            <a:ext cx="1808912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Arial"/>
              </a:rPr>
              <a:t>04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3520" y="3246120"/>
            <a:ext cx="1808912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3520" y="3410712"/>
            <a:ext cx="180891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GROUNDED RAG &amp; SEAL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3520" y="3977640"/>
            <a:ext cx="1808912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FastEmbed semantic extraction + SHA-256 cryptographic audit seal.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Arial"/>
              </a:rPr>
              <a:t>Deterministic financial math runs in Python + DuckDB — the LLM only performs grounded semantic extraction, never calculation.</a:t>
            </a:r>
          </a:p>
        </p:txBody>
      </p:sp>
      <p:pic>
        <p:nvPicPr>
          <p:cNvPr id="32" name="Immagine 31">
            <a:extLst>
              <a:ext uri="{FF2B5EF4-FFF2-40B4-BE49-F238E27FC236}">
                <a16:creationId xmlns:a16="http://schemas.microsoft.com/office/drawing/2014/main" id="{DC023FE9-557F-449A-255C-033D834B02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val 3">
            <a:extLst>
              <a:ext uri="{FF2B5EF4-FFF2-40B4-BE49-F238E27FC236}">
                <a16:creationId xmlns:a16="http://schemas.microsoft.com/office/drawing/2014/main" id="{F8E4B77C-B18E-D6B3-9C8E-09CE277CDD6C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2">
            <a:extLst>
              <a:ext uri="{FF2B5EF4-FFF2-40B4-BE49-F238E27FC236}">
                <a16:creationId xmlns:a16="http://schemas.microsoft.com/office/drawing/2014/main" id="{339B8C06-2C93-E1CB-7435-0B467610DDCE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6C31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04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LIVE PROOF &amp; TIPPING POINT — ECOTEX MILANO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52366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700" b="1" i="0" dirty="0">
                <a:solidFill>
                  <a:srgbClr val="FFFFFF"/>
                </a:solidFill>
                <a:latin typeface="Arial"/>
              </a:rPr>
              <a:t>Optimizing Borrowing Boundaries in Real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FINANCIAL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Prime Solvency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2264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65144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2600" b="1" i="0">
                <a:solidFill>
                  <a:srgbClr val="10B981"/>
                </a:solidFill>
                <a:latin typeface="Arial"/>
              </a:rPr>
              <a:t>95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5144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ESG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5144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Top Decile Green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8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5888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38BDF8"/>
                </a:solidFill>
                <a:latin typeface="Arial"/>
              </a:rPr>
              <a:t>1.82%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8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MILAN PROVINCIAL NPL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8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Arial"/>
              </a:rPr>
              <a:t>-113 bps vs Italy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2" y="1833715"/>
            <a:ext cx="2476424" cy="1371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66632" y="1980019"/>
            <a:ext cx="21106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Arial"/>
              </a:rPr>
              <a:t>APPROVE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6632" y="258352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1" i="0" spc="40">
                <a:solidFill>
                  <a:srgbClr val="FFFFFF"/>
                </a:solidFill>
                <a:latin typeface="Arial"/>
              </a:rPr>
              <a:t>CERTIFIED 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6632" y="2857843"/>
            <a:ext cx="2110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050" b="0" i="0" dirty="0">
                <a:solidFill>
                  <a:srgbClr val="94A3B8"/>
                </a:solidFill>
                <a:latin typeface="Arial"/>
              </a:rPr>
              <a:t>5.15% Fixed Prime</a:t>
            </a:r>
            <a:r>
              <a:rPr lang="it-IT" sz="1050" b="0" i="0" dirty="0">
                <a:solidFill>
                  <a:srgbClr val="94A3B8"/>
                </a:solidFill>
                <a:latin typeface="Arial"/>
              </a:rPr>
              <a:t>*</a:t>
            </a:r>
            <a:endParaRPr sz="10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1520" y="3341987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502451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10B981"/>
                </a:solidFill>
                <a:latin typeface="Arial"/>
              </a:rPr>
              <a:t>OPTIMAL BASE — €750K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80212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DSCR 2.96x → 100% Pre-Approval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133387"/>
            <a:ext cx="472424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Fixed at 5.15% prime, plus a 15% regional green grant on qualifying capex.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56451"/>
            <a:ext cx="5181448" cy="1371600"/>
          </a:xfrm>
          <a:prstGeom prst="roundRect">
            <a:avLst>
              <a:gd name="adj" fmla="val 6000"/>
            </a:avLst>
          </a:prstGeom>
          <a:solidFill>
            <a:srgbClr val="161F2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075907"/>
            <a:ext cx="45413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1" i="0" spc="60" dirty="0">
                <a:solidFill>
                  <a:srgbClr val="F59E0B"/>
                </a:solidFill>
                <a:latin typeface="Arial"/>
              </a:rPr>
              <a:t>STRESS TEST — €1.0M+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291429"/>
            <a:ext cx="4541368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b="1" i="0" dirty="0">
                <a:solidFill>
                  <a:srgbClr val="FFFFFF"/>
                </a:solidFill>
                <a:latin typeface="Arial"/>
              </a:rPr>
              <a:t>DSCR 1.35x → REVIEW Triggered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95833"/>
            <a:ext cx="4541368" cy="4794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Guidance: avoid pure debt — split into a €750k senior loan + €250k grant to hold prime pricing.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85661A9-BED2-986A-B979-807005F27835}"/>
              </a:ext>
            </a:extLst>
          </p:cNvPr>
          <p:cNvSpPr txBox="1"/>
          <p:nvPr/>
        </p:nvSpPr>
        <p:spPr>
          <a:xfrm>
            <a:off x="2758440" y="6385432"/>
            <a:ext cx="69491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*https://www.eba.europa.eu/regulation-and-policy/credit-risk/guidelines-on-loan-origination-and-monitoring</a:t>
            </a:r>
            <a:b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**https://pallab9999-finsight-ai-appmain-gt4in1.streamlit.app/</a:t>
            </a:r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C5DDAF42-969A-9CC9-2BB3-91D1222C9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4712" y="3502451"/>
            <a:ext cx="2170343" cy="2170343"/>
          </a:xfrm>
          <a:prstGeom prst="rect">
            <a:avLst/>
          </a:prstGeom>
        </p:spPr>
      </p:pic>
      <p:sp>
        <p:nvSpPr>
          <p:cNvPr id="41" name="TextBox 23">
            <a:extLst>
              <a:ext uri="{FF2B5EF4-FFF2-40B4-BE49-F238E27FC236}">
                <a16:creationId xmlns:a16="http://schemas.microsoft.com/office/drawing/2014/main" id="{83EF9F65-27CB-061B-B721-74453C20F45D}"/>
              </a:ext>
            </a:extLst>
          </p:cNvPr>
          <p:cNvSpPr txBox="1"/>
          <p:nvPr/>
        </p:nvSpPr>
        <p:spPr>
          <a:xfrm>
            <a:off x="7774712" y="5759927"/>
            <a:ext cx="2170343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lang="it-IT" sz="1900" b="1" i="0" dirty="0">
                <a:solidFill>
                  <a:srgbClr val="FFFFFF"/>
                </a:solidFill>
                <a:latin typeface="Arial"/>
              </a:rPr>
              <a:t>SCAN TO TRY</a:t>
            </a:r>
            <a:br>
              <a:rPr lang="it-IT" sz="1900" b="1" i="0" dirty="0">
                <a:solidFill>
                  <a:srgbClr val="FFFFFF"/>
                </a:solidFill>
                <a:latin typeface="Arial"/>
              </a:rPr>
            </a:br>
            <a:r>
              <a:rPr lang="it-IT" sz="1200" b="1" i="0" dirty="0">
                <a:solidFill>
                  <a:srgbClr val="FFFFFF"/>
                </a:solidFill>
                <a:latin typeface="Arial"/>
              </a:rPr>
              <a:t>OUR APP**</a:t>
            </a:r>
            <a:endParaRPr sz="190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AF403AA9-D343-5B57-E5DF-F859E31BD8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3">
            <a:extLst>
              <a:ext uri="{FF2B5EF4-FFF2-40B4-BE49-F238E27FC236}">
                <a16:creationId xmlns:a16="http://schemas.microsoft.com/office/drawing/2014/main" id="{4B01F7F8-C8AA-21C6-5CA7-3A359D010444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">
            <a:extLst>
              <a:ext uri="{FF2B5EF4-FFF2-40B4-BE49-F238E27FC236}">
                <a16:creationId xmlns:a16="http://schemas.microsoft.com/office/drawing/2014/main" id="{3A0049A5-3C82-05EC-87FE-268479D30E2F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6C31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05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10B981"/>
                </a:solidFill>
                <a:latin typeface="Arial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>
                <a:solidFill>
                  <a:srgbClr val="FFFFFF"/>
                </a:solidFill>
                <a:latin typeface="Arial"/>
              </a:rPr>
              <a:t>Distribution Through Corporate Accountants: Zero Direct CAC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0.5–1.0%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MONETIZATION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Success fee on loan drawdown — €5,000–€7,500 per closed 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9658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9698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120,000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49698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49698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CHANNEL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9698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 dirty="0">
                <a:solidFill>
                  <a:srgbClr val="94A3B8"/>
                </a:solidFill>
                <a:latin typeface="Arial"/>
              </a:rPr>
              <a:t>Italian accounting firms in reach. 1 partner delivers 25+ SME dossiers per year.</a:t>
            </a:r>
            <a:r>
              <a:rPr lang="it-IT" sz="1250" b="0" i="0" dirty="0">
                <a:solidFill>
                  <a:srgbClr val="94A3B8"/>
                </a:solidFill>
                <a:latin typeface="Arial"/>
              </a:rPr>
              <a:t>*</a:t>
            </a:r>
            <a:endParaRPr sz="1250" b="0" i="0" dirty="0">
              <a:solidFill>
                <a:srgbClr val="94A3B8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27796" y="2286000"/>
            <a:ext cx="3332378" cy="365760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47836" y="2788920"/>
            <a:ext cx="2692298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1" i="0">
                <a:solidFill>
                  <a:srgbClr val="10B981"/>
                </a:solidFill>
                <a:latin typeface="Arial"/>
              </a:rPr>
              <a:t>&gt;20x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47836" y="3794760"/>
            <a:ext cx="2692298" cy="0"/>
          </a:xfrm>
          <a:prstGeom prst="line">
            <a:avLst/>
          </a:prstGeom>
          <a:ln w="127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47836" y="4005072"/>
            <a:ext cx="269229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50" b="1" i="0" spc="50">
                <a:solidFill>
                  <a:srgbClr val="FFFFFF"/>
                </a:solidFill>
                <a:latin typeface="Arial"/>
              </a:rPr>
              <a:t>UNIT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7836" y="4498848"/>
            <a:ext cx="269229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CAC &lt; €250 | LTV &gt; €5,000 | LTV/CAC ratio.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628125A-4E3E-1DB0-3D72-CFA654F5B51B}"/>
              </a:ext>
            </a:extLst>
          </p:cNvPr>
          <p:cNvSpPr txBox="1"/>
          <p:nvPr/>
        </p:nvSpPr>
        <p:spPr>
          <a:xfrm>
            <a:off x="5245293" y="6230666"/>
            <a:ext cx="1701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1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*https://commercialisti.it/</a:t>
            </a: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5485CB58-4F9F-812E-87DB-B73EC8118C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3">
            <a:extLst>
              <a:ext uri="{FF2B5EF4-FFF2-40B4-BE49-F238E27FC236}">
                <a16:creationId xmlns:a16="http://schemas.microsoft.com/office/drawing/2014/main" id="{8C2BF82F-D273-D07C-56C9-6F1EFB5D53B5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">
            <a:extLst>
              <a:ext uri="{FF2B5EF4-FFF2-40B4-BE49-F238E27FC236}">
                <a16:creationId xmlns:a16="http://schemas.microsoft.com/office/drawing/2014/main" id="{80691DA5-F72C-0B15-4DBF-B531A999FAF9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TextBox 1"/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06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 i="0" spc="110">
                <a:solidFill>
                  <a:srgbClr val="38BDF8"/>
                </a:solidFill>
                <a:latin typeface="Arial"/>
              </a:rPr>
              <a:t>EXECUTION ROADMAP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2900" b="1" i="0" dirty="0">
                <a:solidFill>
                  <a:srgbClr val="FFFFFF"/>
                </a:solidFill>
                <a:latin typeface="Arial"/>
              </a:rPr>
              <a:t>The 12-Month Path to the European SME Capital Gateway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LOMBARDIA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5 accounting firms onboarded, 50 SMEs scored, €25M in volume originated.</a:t>
            </a:r>
          </a:p>
        </p:txBody>
      </p:sp>
      <p:sp>
        <p:nvSpPr>
          <p:cNvPr id="12" name="Oval 11"/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38BDF8"/>
                </a:solidFill>
                <a:latin typeface="Arial"/>
              </a:rPr>
              <a:t>MONTH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MULTI-LENDER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3978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15 digital credit funds competing in real time for certified dossiers.</a:t>
            </a:r>
          </a:p>
        </p:txBody>
      </p:sp>
      <p:sp>
        <p:nvSpPr>
          <p:cNvPr id="17" name="Oval 16"/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00" b="1" i="0" spc="100">
                <a:solidFill>
                  <a:srgbClr val="10B981"/>
                </a:solidFill>
                <a:latin typeface="Arial"/>
              </a:rPr>
              <a:t>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650" b="1" i="0">
                <a:solidFill>
                  <a:srgbClr val="FFFFFF"/>
                </a:solidFill>
                <a:latin typeface="Arial"/>
              </a:rPr>
              <a:t>CONTINUOUS TREASURY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2116" y="4023360"/>
            <a:ext cx="2783738" cy="1234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Automated covenant monitoring, live at pilot scale across European markets.</a:t>
            </a: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2A65C84C-F1A3-89A4-D8E4-6D8EEA1979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A007B2-E6EA-4158-0CFE-C9BCA37C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">
            <a:extLst>
              <a:ext uri="{FF2B5EF4-FFF2-40B4-BE49-F238E27FC236}">
                <a16:creationId xmlns:a16="http://schemas.microsoft.com/office/drawing/2014/main" id="{6F1AB5F9-300F-279A-918B-81AB30BFE081}"/>
              </a:ext>
            </a:extLst>
          </p:cNvPr>
          <p:cNvSpPr/>
          <p:nvPr/>
        </p:nvSpPr>
        <p:spPr>
          <a:xfrm>
            <a:off x="8153400" y="-1879092"/>
            <a:ext cx="5943600" cy="5486400"/>
          </a:xfrm>
          <a:prstGeom prst="ellipse">
            <a:avLst/>
          </a:prstGeom>
          <a:solidFill>
            <a:srgbClr val="00206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Oval 3">
            <a:extLst>
              <a:ext uri="{FF2B5EF4-FFF2-40B4-BE49-F238E27FC236}">
                <a16:creationId xmlns:a16="http://schemas.microsoft.com/office/drawing/2014/main" id="{56BF2E54-9E0D-A052-1521-4608C386CA36}"/>
              </a:ext>
            </a:extLst>
          </p:cNvPr>
          <p:cNvSpPr/>
          <p:nvPr/>
        </p:nvSpPr>
        <p:spPr>
          <a:xfrm>
            <a:off x="-1828800" y="4114800"/>
            <a:ext cx="5029200" cy="4572000"/>
          </a:xfrm>
          <a:prstGeom prst="ellipse">
            <a:avLst/>
          </a:prstGeom>
          <a:solidFill>
            <a:srgbClr val="0A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50C67A-7DE5-E36D-B32B-D8E8465DBCBA}"/>
              </a:ext>
            </a:extLst>
          </p:cNvPr>
          <p:cNvSpPr txBox="1"/>
          <p:nvPr/>
        </p:nvSpPr>
        <p:spPr>
          <a:xfrm>
            <a:off x="731520" y="3840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00" b="1" i="0" spc="160">
                <a:solidFill>
                  <a:srgbClr val="94A3B8"/>
                </a:solidFill>
                <a:latin typeface="Arial"/>
              </a:rPr>
              <a:t>FINSIGHT AI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46E02-F862-2D4A-115E-5FE6E7E35856}"/>
              </a:ext>
            </a:extLst>
          </p:cNvPr>
          <p:cNvSpPr txBox="1"/>
          <p:nvPr/>
        </p:nvSpPr>
        <p:spPr>
          <a:xfrm>
            <a:off x="9997135" y="38404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Arial"/>
              </a:rPr>
              <a:t>06 /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AB44DD-207C-065C-0C3E-0977911EB87E}"/>
              </a:ext>
            </a:extLst>
          </p:cNvPr>
          <p:cNvSpPr txBox="1"/>
          <p:nvPr/>
        </p:nvSpPr>
        <p:spPr>
          <a:xfrm>
            <a:off x="731520" y="78638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it-IT" sz="1200" b="1" i="0" spc="110" dirty="0">
                <a:solidFill>
                  <a:srgbClr val="38BDF8"/>
                </a:solidFill>
                <a:latin typeface="Arial"/>
              </a:rPr>
              <a:t>US</a:t>
            </a:r>
            <a:endParaRPr sz="1200" b="1" i="0" spc="11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FC79E-FC2C-A92A-4575-F8278817002A}"/>
              </a:ext>
            </a:extLst>
          </p:cNvPr>
          <p:cNvSpPr txBox="1"/>
          <p:nvPr/>
        </p:nvSpPr>
        <p:spPr>
          <a:xfrm>
            <a:off x="731520" y="111556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lang="it-IT" sz="6000" b="1" i="0" dirty="0">
                <a:solidFill>
                  <a:srgbClr val="FFFFFF"/>
                </a:solidFill>
                <a:latin typeface="Arial"/>
              </a:rPr>
              <a:t>Thank </a:t>
            </a:r>
            <a:r>
              <a:rPr lang="it-IT" sz="6000" b="1" i="0" dirty="0" err="1">
                <a:solidFill>
                  <a:srgbClr val="FFFFFF"/>
                </a:solidFill>
                <a:latin typeface="Arial"/>
              </a:rPr>
              <a:t>you</a:t>
            </a:r>
            <a:endParaRPr sz="6000" b="1" i="0" dirty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93582D4-9740-C497-3B17-0844CD10B986}"/>
              </a:ext>
            </a:extLst>
          </p:cNvPr>
          <p:cNvCxnSpPr/>
          <p:nvPr/>
        </p:nvCxnSpPr>
        <p:spPr>
          <a:xfrm>
            <a:off x="1051560" y="2331720"/>
            <a:ext cx="10088575" cy="0"/>
          </a:xfrm>
          <a:prstGeom prst="line">
            <a:avLst/>
          </a:prstGeom>
          <a:ln w="25400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1D859C9-1BFA-912E-4920-AB234CECB28C}"/>
              </a:ext>
            </a:extLst>
          </p:cNvPr>
          <p:cNvSpPr/>
          <p:nvPr/>
        </p:nvSpPr>
        <p:spPr>
          <a:xfrm>
            <a:off x="426191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E698612-FAD2-8E40-75CB-634A8C328AAD}"/>
              </a:ext>
            </a:extLst>
          </p:cNvPr>
          <p:cNvSpPr/>
          <p:nvPr/>
        </p:nvSpPr>
        <p:spPr>
          <a:xfrm>
            <a:off x="731520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D2C268-6CDA-C578-46E5-22513314188B}"/>
              </a:ext>
            </a:extLst>
          </p:cNvPr>
          <p:cNvSpPr txBox="1"/>
          <p:nvPr/>
        </p:nvSpPr>
        <p:spPr>
          <a:xfrm>
            <a:off x="1005840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38BDF8"/>
                </a:solidFill>
                <a:latin typeface="Arial"/>
              </a:rPr>
              <a:t>Data Science</a:t>
            </a:r>
            <a:endParaRPr sz="1300" b="1" i="0" spc="100" dirty="0">
              <a:solidFill>
                <a:srgbClr val="38BDF8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50C36D-CCA0-DE72-1C80-43BAAB8125FF}"/>
              </a:ext>
            </a:extLst>
          </p:cNvPr>
          <p:cNvSpPr txBox="1"/>
          <p:nvPr/>
        </p:nvSpPr>
        <p:spPr>
          <a:xfrm>
            <a:off x="1005840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Colombini Francesco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3A4EDD-3F6E-CD39-A54D-F6975EDC98F0}"/>
              </a:ext>
            </a:extLst>
          </p:cNvPr>
          <p:cNvSpPr/>
          <p:nvPr/>
        </p:nvSpPr>
        <p:spPr>
          <a:xfrm>
            <a:off x="7591148" y="2212848"/>
            <a:ext cx="237744" cy="23774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38F7DD9-9301-94DA-AA19-DB73352EB348}"/>
              </a:ext>
            </a:extLst>
          </p:cNvPr>
          <p:cNvSpPr/>
          <p:nvPr/>
        </p:nvSpPr>
        <p:spPr>
          <a:xfrm>
            <a:off x="4429658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EBE13-84FF-49D6-9522-98C176A3990A}"/>
              </a:ext>
            </a:extLst>
          </p:cNvPr>
          <p:cNvSpPr txBox="1"/>
          <p:nvPr/>
        </p:nvSpPr>
        <p:spPr>
          <a:xfrm>
            <a:off x="4703978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spc="100" dirty="0">
                <a:solidFill>
                  <a:srgbClr val="38BDF8"/>
                </a:solidFill>
                <a:latin typeface="Arial"/>
              </a:rPr>
              <a:t>Data Science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2B255-310A-EBCF-24D5-EE5F931C2F49}"/>
              </a:ext>
            </a:extLst>
          </p:cNvPr>
          <p:cNvSpPr txBox="1"/>
          <p:nvPr/>
        </p:nvSpPr>
        <p:spPr>
          <a:xfrm>
            <a:off x="4703978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i="0" dirty="0">
                <a:solidFill>
                  <a:srgbClr val="FFFFFF"/>
                </a:solidFill>
                <a:latin typeface="Arial"/>
              </a:rPr>
              <a:t>Osama Haider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5C5AF91-D7EC-4580-6D60-7D9FE105BE5E}"/>
              </a:ext>
            </a:extLst>
          </p:cNvPr>
          <p:cNvSpPr/>
          <p:nvPr/>
        </p:nvSpPr>
        <p:spPr>
          <a:xfrm>
            <a:off x="11021263" y="2212848"/>
            <a:ext cx="237744" cy="23774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0B0F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2A1A110-474B-CF80-B40C-09827C5163C7}"/>
              </a:ext>
            </a:extLst>
          </p:cNvPr>
          <p:cNvSpPr/>
          <p:nvPr/>
        </p:nvSpPr>
        <p:spPr>
          <a:xfrm>
            <a:off x="8127796" y="2743200"/>
            <a:ext cx="3332378" cy="30175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92C8EB-DF08-ABCF-8E2D-140C5F2C65B2}"/>
              </a:ext>
            </a:extLst>
          </p:cNvPr>
          <p:cNvSpPr txBox="1"/>
          <p:nvPr/>
        </p:nvSpPr>
        <p:spPr>
          <a:xfrm>
            <a:off x="8402116" y="3017520"/>
            <a:ext cx="278373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it-IT" sz="1300" b="1" i="0" spc="100" dirty="0">
                <a:solidFill>
                  <a:srgbClr val="10B981"/>
                </a:solidFill>
                <a:latin typeface="Arial"/>
              </a:rPr>
              <a:t>AI4ST</a:t>
            </a:r>
            <a:endParaRPr sz="1300" b="1" i="0" spc="100" dirty="0">
              <a:solidFill>
                <a:srgbClr val="10B981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1926A-CEF9-3E45-90C1-68FB08F79AE4}"/>
              </a:ext>
            </a:extLst>
          </p:cNvPr>
          <p:cNvSpPr txBox="1"/>
          <p:nvPr/>
        </p:nvSpPr>
        <p:spPr>
          <a:xfrm>
            <a:off x="8402116" y="3364992"/>
            <a:ext cx="2783738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lang="it-IT" sz="1650" b="1" dirty="0">
                <a:solidFill>
                  <a:srgbClr val="FFFFFF"/>
                </a:solidFill>
                <a:latin typeface="Arial"/>
              </a:rPr>
              <a:t>Pallab Mondal</a:t>
            </a:r>
            <a:endParaRPr sz="1650" b="1" i="0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A90E3DB0-64C8-4277-30D8-1DC13149D5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11"/>
          <a:stretch>
            <a:fillRect/>
          </a:stretch>
        </p:blipFill>
        <p:spPr>
          <a:xfrm>
            <a:off x="5326567" y="3749039"/>
            <a:ext cx="1538865" cy="181154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920FFB37-4F95-F292-2ACA-C34FC8518F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098"/>
          <a:stretch>
            <a:fillRect/>
          </a:stretch>
        </p:blipFill>
        <p:spPr>
          <a:xfrm>
            <a:off x="9114503" y="3749039"/>
            <a:ext cx="1435510" cy="1731583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BAA0C904-B79F-0FF2-3C6A-641926DA22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38" t="10778" r="11813"/>
          <a:stretch>
            <a:fillRect/>
          </a:stretch>
        </p:blipFill>
        <p:spPr>
          <a:xfrm>
            <a:off x="1606092" y="3749039"/>
            <a:ext cx="1538865" cy="1811541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D156AF30-AE41-ACA6-873D-27B18A4291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195" r="22195"/>
          <a:stretch/>
        </p:blipFill>
        <p:spPr>
          <a:xfrm>
            <a:off x="416560" y="308584"/>
            <a:ext cx="238760" cy="233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545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582</Words>
  <Application>Microsoft Office PowerPoint</Application>
  <PresentationFormat>Widescreen</PresentationFormat>
  <Paragraphs>103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f.colombini4@campus.unimib.it</cp:lastModifiedBy>
  <cp:revision>15</cp:revision>
  <dcterms:created xsi:type="dcterms:W3CDTF">2013-01-27T09:14:16Z</dcterms:created>
  <dcterms:modified xsi:type="dcterms:W3CDTF">2026-09-08T13:14:28Z</dcterms:modified>
  <cp:category/>
</cp:coreProperties>
</file>