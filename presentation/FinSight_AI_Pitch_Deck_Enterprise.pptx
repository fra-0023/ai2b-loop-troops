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40" dirty="0">
                <a:solidFill>
                  <a:srgbClr val="FFFFFF"/>
                </a:solidFill>
                <a:latin typeface="Arial"/>
              </a:rPr>
              <a:t>FINSIGHT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00" b="1" i="0" spc="130">
                <a:solidFill>
                  <a:srgbClr val="38BDF8"/>
                </a:solidFill>
                <a:latin typeface="Arial"/>
              </a:rPr>
              <a:t>AUTONOMOUS SME CREDIT READINESS &amp; CAPITAL SIZING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2848"/>
            <a:ext cx="11277295" cy="1326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800" b="1" i="0" dirty="0" err="1">
                <a:solidFill>
                  <a:srgbClr val="FFFFFF"/>
                </a:solidFill>
                <a:latin typeface="Arial"/>
              </a:rPr>
              <a:t>FinSight</a:t>
            </a:r>
            <a:r>
              <a:rPr sz="3800" b="1" i="0" dirty="0">
                <a:solidFill>
                  <a:srgbClr val="FFFFFF"/>
                </a:solidFill>
                <a:latin typeface="Arial"/>
              </a:rPr>
              <a:t> AI: Pre-Underwriting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800" b="1" i="0" dirty="0">
                <a:solidFill>
                  <a:srgbClr val="FFFFFF"/>
                </a:solidFill>
                <a:latin typeface="Arial"/>
              </a:rPr>
              <a:t>European SME Debt in 14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913632"/>
            <a:ext cx="9265615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Arial"/>
              </a:rPr>
              <a:t>Turning balance sheets, central bank NPL metrics, and ESG disclosures into certified bank dossiers.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81904" y="4617720"/>
            <a:ext cx="1828800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06628" y="507492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IN-MEMORY DUCKDB 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2788" y="507492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BANCA D'ITALIA NPL FUSE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8948" y="507492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EBA GL/2020/06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160">
                <a:solidFill>
                  <a:srgbClr val="94A3B8"/>
                </a:solidFill>
                <a:latin typeface="Arial"/>
              </a:rPr>
              <a:t>FINSIGHT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97135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Arial"/>
              </a:rPr>
              <a:t>02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110">
                <a:solidFill>
                  <a:srgbClr val="F59E0B"/>
                </a:solidFill>
                <a:latin typeface="Arial"/>
              </a:rPr>
              <a:t>PROBLEM &amp; MARKET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FFFFF"/>
                </a:solidFill>
                <a:latin typeface="Arial"/>
              </a:rPr>
              <a:t>Why 40% of Creditworthy SMEs Face Rejection or Rate Spikes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" y="2697480"/>
            <a:ext cx="502920" cy="502920"/>
          </a:xfrm>
          <a:prstGeom prst="ellipse">
            <a:avLst/>
          </a:prstGeom>
          <a:solidFill>
            <a:srgbClr val="0B0F1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59E0B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74720"/>
            <a:ext cx="269229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  <a:latin typeface="Arial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15968"/>
            <a:ext cx="269229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THE INFORMATION VOID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4919472"/>
            <a:ext cx="2692298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102352"/>
            <a:ext cx="2692298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300" b="0" i="0" dirty="0">
                <a:solidFill>
                  <a:srgbClr val="94A3B8"/>
                </a:solidFill>
                <a:latin typeface="Arial"/>
              </a:rPr>
              <a:t>SMEs apply blind without provincial default benchmarking.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658" y="228600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49698" y="2697480"/>
            <a:ext cx="502920" cy="502920"/>
          </a:xfrm>
          <a:prstGeom prst="ellipse">
            <a:avLst/>
          </a:prstGeom>
          <a:solidFill>
            <a:srgbClr val="0B0F1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59E0B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698" y="3474720"/>
            <a:ext cx="269229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  <a:latin typeface="Arial"/>
              </a:rPr>
              <a:t>3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697" y="4315968"/>
            <a:ext cx="2821141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i="0" dirty="0">
                <a:solidFill>
                  <a:srgbClr val="FFFFFF"/>
                </a:solidFill>
                <a:latin typeface="Arial"/>
              </a:rPr>
              <a:t>THE 3-WEEK BLACK BOX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49698" y="4919472"/>
            <a:ext cx="2692298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49698" y="5102352"/>
            <a:ext cx="2692298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300" b="0" i="0" dirty="0">
                <a:solidFill>
                  <a:srgbClr val="94A3B8"/>
                </a:solidFill>
                <a:latin typeface="Arial"/>
              </a:rPr>
              <a:t>Manual re-keying stalls </a:t>
            </a:r>
            <a:r>
              <a:rPr sz="1300" b="0" i="0" dirty="0" err="1">
                <a:solidFill>
                  <a:srgbClr val="94A3B8"/>
                </a:solidFill>
                <a:latin typeface="Arial"/>
              </a:rPr>
              <a:t>CapEx</a:t>
            </a:r>
            <a:r>
              <a:rPr sz="1300" b="0" i="0" dirty="0">
                <a:solidFill>
                  <a:srgbClr val="94A3B8"/>
                </a:solidFill>
                <a:latin typeface="Arial"/>
              </a:rPr>
              <a:t> while competitors move.</a:t>
            </a:r>
            <a:r>
              <a:rPr lang="it-IT" sz="1300" b="0" i="0" dirty="0">
                <a:solidFill>
                  <a:srgbClr val="94A3B8"/>
                </a:solidFill>
                <a:latin typeface="Arial"/>
              </a:rPr>
              <a:t>*</a:t>
            </a:r>
            <a:endParaRPr sz="130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27796" y="228600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47836" y="2697480"/>
            <a:ext cx="502920" cy="502920"/>
          </a:xfrm>
          <a:prstGeom prst="ellipse">
            <a:avLst/>
          </a:prstGeom>
          <a:solidFill>
            <a:srgbClr val="0B0F1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59E0B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7836" y="3474720"/>
            <a:ext cx="269229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  <a:latin typeface="Arial"/>
              </a:rPr>
              <a:t>€10K+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4315968"/>
            <a:ext cx="269229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i="0" dirty="0">
                <a:solidFill>
                  <a:srgbClr val="FFFFFF"/>
                </a:solidFill>
                <a:latin typeface="Arial"/>
              </a:rPr>
              <a:t>THE ESG PENALTY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47836" y="4919472"/>
            <a:ext cx="2692298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47836" y="5102352"/>
            <a:ext cx="2692298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300" b="0" i="0" dirty="0">
                <a:solidFill>
                  <a:srgbClr val="94A3B8"/>
                </a:solidFill>
                <a:latin typeface="Arial"/>
              </a:rPr>
              <a:t>Lost in green interest discounts due to unverifiable sustainability data.</a:t>
            </a:r>
            <a:r>
              <a:rPr lang="it-IT" sz="1300" b="0" i="0" dirty="0">
                <a:solidFill>
                  <a:srgbClr val="94A3B8"/>
                </a:solidFill>
                <a:latin typeface="Arial"/>
              </a:rPr>
              <a:t>**</a:t>
            </a:r>
            <a:endParaRPr sz="130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867DB9A-1576-AC42-55D2-4829A05A9D14}"/>
              </a:ext>
            </a:extLst>
          </p:cNvPr>
          <p:cNvSpPr txBox="1"/>
          <p:nvPr/>
        </p:nvSpPr>
        <p:spPr>
          <a:xfrm>
            <a:off x="3611840" y="6269102"/>
            <a:ext cx="483599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*https://www.ecb.europa.eu/stats/ecb_surveys/safe/html/index.en.html</a:t>
            </a:r>
            <a:br>
              <a:rPr lang="it-IT" sz="11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11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  <a:r>
              <a:rPr lang="it-IT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https://eur-lex.europa.eu/legal-content/IT/TXT/?uri=CELEX:32022L2464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160">
                <a:solidFill>
                  <a:srgbClr val="94A3B8"/>
                </a:solidFill>
                <a:latin typeface="Arial"/>
              </a:rPr>
              <a:t>FINSIGHT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97135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Arial"/>
              </a:rPr>
              <a:t>03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110">
                <a:solidFill>
                  <a:srgbClr val="38BDF8"/>
                </a:solidFill>
                <a:latin typeface="Arial"/>
              </a:rPr>
              <a:t>ARCHITECTURE &amp; DATA SOVEREIGNTY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FFFFF"/>
                </a:solidFill>
                <a:latin typeface="Arial"/>
              </a:rPr>
              <a:t>The 4-Stage Deterministic Engine: Zero Cloud Leaks, Zero LLM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2284400" cy="30632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2606040"/>
            <a:ext cx="180891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38BDF8"/>
                </a:solidFill>
                <a:latin typeface="Arial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9264" y="3246120"/>
            <a:ext cx="1808912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9264" y="3410712"/>
            <a:ext cx="180891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DUCKDB LAKEHOUSE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977640"/>
            <a:ext cx="1808912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 dirty="0">
                <a:solidFill>
                  <a:srgbClr val="94A3B8"/>
                </a:solidFill>
                <a:latin typeface="Arial"/>
              </a:rPr>
              <a:t>Columnar OLAP in RAM</a:t>
            </a:r>
            <a:r>
              <a:rPr lang="it-IT" sz="1150" dirty="0">
                <a:solidFill>
                  <a:srgbClr val="94A3B8"/>
                </a:solidFill>
                <a:latin typeface="Arial"/>
              </a:rPr>
              <a:t>,</a:t>
            </a:r>
            <a:r>
              <a:rPr sz="1150" b="0" i="0" dirty="0">
                <a:solidFill>
                  <a:srgbClr val="94A3B8"/>
                </a:solidFill>
                <a:latin typeface="Arial"/>
              </a:rPr>
              <a:t> sub-second balance sheet parsing.</a:t>
            </a:r>
          </a:p>
        </p:txBody>
      </p:sp>
      <p:sp>
        <p:nvSpPr>
          <p:cNvPr id="11" name="Chevron 10"/>
          <p:cNvSpPr/>
          <p:nvPr/>
        </p:nvSpPr>
        <p:spPr>
          <a:xfrm>
            <a:off x="3034208" y="3707892"/>
            <a:ext cx="310896" cy="310896"/>
          </a:xfrm>
          <a:prstGeom prst="chevron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46272" y="2331720"/>
            <a:ext cx="2284400" cy="30632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84016" y="2606040"/>
            <a:ext cx="180891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38BDF8"/>
                </a:solidFill>
                <a:latin typeface="Arial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84016" y="3246120"/>
            <a:ext cx="1808912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84016" y="3410712"/>
            <a:ext cx="180891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 dirty="0">
                <a:solidFill>
                  <a:srgbClr val="FFFFFF"/>
                </a:solidFill>
                <a:latin typeface="Arial"/>
              </a:rPr>
              <a:t>CENTRAL BANK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4016" y="3977640"/>
            <a:ext cx="1808912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 dirty="0">
                <a:solidFill>
                  <a:srgbClr val="94A3B8"/>
                </a:solidFill>
                <a:latin typeface="Arial"/>
              </a:rPr>
              <a:t>Banca d'Italia provincial NPL (Milan 1.82%) + Open Data </a:t>
            </a:r>
            <a:r>
              <a:rPr sz="1150" b="0" i="0" dirty="0" err="1">
                <a:solidFill>
                  <a:srgbClr val="94A3B8"/>
                </a:solidFill>
                <a:latin typeface="Arial"/>
              </a:rPr>
              <a:t>Lombardia</a:t>
            </a:r>
            <a:r>
              <a:rPr sz="1150" b="0" i="0" dirty="0">
                <a:solidFill>
                  <a:srgbClr val="94A3B8"/>
                </a:solidFill>
                <a:latin typeface="Arial"/>
              </a:rPr>
              <a:t> (+4.1%).</a:t>
            </a:r>
            <a:r>
              <a:rPr lang="it-IT" sz="1150" b="0" i="0" dirty="0">
                <a:solidFill>
                  <a:srgbClr val="94A3B8"/>
                </a:solidFill>
                <a:latin typeface="Arial"/>
              </a:rPr>
              <a:t>*</a:t>
            </a:r>
            <a:endParaRPr sz="115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5848960" y="3707892"/>
            <a:ext cx="310896" cy="310896"/>
          </a:xfrm>
          <a:prstGeom prst="chevron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61024" y="2331720"/>
            <a:ext cx="2284400" cy="30632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98768" y="2606040"/>
            <a:ext cx="180891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38BDF8"/>
                </a:solidFill>
                <a:latin typeface="Arial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98768" y="3246120"/>
            <a:ext cx="1808912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98768" y="3410712"/>
            <a:ext cx="180891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DETERMINISTIC MATH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8768" y="3977640"/>
            <a:ext cx="1808912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Arial"/>
              </a:rPr>
              <a:t>Python CRO rules computing DSCR (2.96x) and leverage covenants.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8663712" y="3707892"/>
            <a:ext cx="310896" cy="310896"/>
          </a:xfrm>
          <a:prstGeom prst="chevron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75776" y="2331720"/>
            <a:ext cx="2284400" cy="30632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3520" y="2606040"/>
            <a:ext cx="180891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38BDF8"/>
                </a:solidFill>
                <a:latin typeface="Arial"/>
              </a:rPr>
              <a:t>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13520" y="3246120"/>
            <a:ext cx="1808912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13520" y="3410712"/>
            <a:ext cx="180891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GROUNDED RAG &amp; SEAL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3520" y="3977640"/>
            <a:ext cx="1808912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Arial"/>
              </a:rPr>
              <a:t>FastEmbed semantic extraction + SHA-256 cryptographic audit seal.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Arial"/>
              </a:rPr>
              <a:t>Deterministic financial math runs in Python + DuckDB — the LLM only performs grounded semantic extraction, never calculation.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160">
                <a:solidFill>
                  <a:srgbClr val="94A3B8"/>
                </a:solidFill>
                <a:latin typeface="Arial"/>
              </a:rPr>
              <a:t>FINSIGHT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97135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Arial"/>
              </a:rPr>
              <a:t>04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110">
                <a:solidFill>
                  <a:srgbClr val="10B981"/>
                </a:solidFill>
                <a:latin typeface="Arial"/>
              </a:rPr>
              <a:t>LIVE PROOF &amp; TIPPING POINT — ECOTEX MILANO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5236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700" b="1" i="0" dirty="0">
                <a:solidFill>
                  <a:srgbClr val="FFFFFF"/>
                </a:solidFill>
                <a:latin typeface="Arial"/>
              </a:rPr>
              <a:t>Optimizing Borrowing Boundaries in Real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33715"/>
            <a:ext cx="2476424" cy="13716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80019"/>
            <a:ext cx="211066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Arial"/>
              </a:rPr>
              <a:t>95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83523"/>
            <a:ext cx="21106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 spc="40">
                <a:solidFill>
                  <a:srgbClr val="FFFFFF"/>
                </a:solidFill>
                <a:latin typeface="Arial"/>
              </a:rPr>
              <a:t>FINANCIAL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7843"/>
            <a:ext cx="21106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Arial"/>
              </a:rPr>
              <a:t>Prime Solvency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2264" y="1833715"/>
            <a:ext cx="2476424" cy="13716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65144" y="1980019"/>
            <a:ext cx="211066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Arial"/>
              </a:rPr>
              <a:t>95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4" y="2583523"/>
            <a:ext cx="21106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 spc="40">
                <a:solidFill>
                  <a:srgbClr val="FFFFFF"/>
                </a:solidFill>
                <a:latin typeface="Arial"/>
              </a:rPr>
              <a:t>ESG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4" y="2857843"/>
            <a:ext cx="21106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Arial"/>
              </a:rPr>
              <a:t>Top Decile Green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8" y="1833715"/>
            <a:ext cx="2476424" cy="13716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8" y="1980019"/>
            <a:ext cx="211066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3000" b="1" i="0">
                <a:solidFill>
                  <a:srgbClr val="38BDF8"/>
                </a:solidFill>
                <a:latin typeface="Arial"/>
              </a:rPr>
              <a:t>1.82%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8" y="2583523"/>
            <a:ext cx="21106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 spc="40">
                <a:solidFill>
                  <a:srgbClr val="FFFFFF"/>
                </a:solidFill>
                <a:latin typeface="Arial"/>
              </a:rPr>
              <a:t>MILAN PROVINCIAL NPL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8" y="2857843"/>
            <a:ext cx="21106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Arial"/>
              </a:rPr>
              <a:t>-113 bps vs Italy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3752" y="1833715"/>
            <a:ext cx="2476424" cy="13716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66632" y="1980019"/>
            <a:ext cx="211066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Arial"/>
              </a:rPr>
              <a:t>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632" y="2583523"/>
            <a:ext cx="21106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 spc="40">
                <a:solidFill>
                  <a:srgbClr val="FFFFFF"/>
                </a:solidFill>
                <a:latin typeface="Arial"/>
              </a:rPr>
              <a:t>CERTIFIED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2" y="2857843"/>
            <a:ext cx="21106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 dirty="0">
                <a:solidFill>
                  <a:srgbClr val="94A3B8"/>
                </a:solidFill>
                <a:latin typeface="Arial"/>
              </a:rPr>
              <a:t>5.15% Fixed Prime</a:t>
            </a:r>
            <a:r>
              <a:rPr lang="it-IT" sz="1050" b="0" i="0" dirty="0">
                <a:solidFill>
                  <a:srgbClr val="94A3B8"/>
                </a:solidFill>
                <a:latin typeface="Arial"/>
              </a:rPr>
              <a:t>*</a:t>
            </a:r>
            <a:endParaRPr sz="105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3341987"/>
            <a:ext cx="5181448" cy="1371600"/>
          </a:xfrm>
          <a:prstGeom prst="roundRect">
            <a:avLst>
              <a:gd name="adj" fmla="val 6000"/>
            </a:avLst>
          </a:prstGeom>
          <a:solidFill>
            <a:srgbClr val="161F2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502451"/>
            <a:ext cx="45413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 spc="60" dirty="0">
                <a:solidFill>
                  <a:srgbClr val="10B981"/>
                </a:solidFill>
                <a:latin typeface="Arial"/>
              </a:rPr>
              <a:t>OPTIMAL BASE — €750K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80212"/>
            <a:ext cx="454136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DSCR 2.96x → 100% Pre-Approval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133387"/>
            <a:ext cx="47242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 dirty="0">
                <a:solidFill>
                  <a:srgbClr val="94A3B8"/>
                </a:solidFill>
                <a:latin typeface="Arial"/>
              </a:rPr>
              <a:t>Fixed at 5.15% prime, plus a 15% regional green grant on qualifying capex.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56451"/>
            <a:ext cx="5181448" cy="1371600"/>
          </a:xfrm>
          <a:prstGeom prst="roundRect">
            <a:avLst>
              <a:gd name="adj" fmla="val 6000"/>
            </a:avLst>
          </a:prstGeom>
          <a:solidFill>
            <a:srgbClr val="161F2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075907"/>
            <a:ext cx="45413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 spc="60" dirty="0">
                <a:solidFill>
                  <a:srgbClr val="F59E0B"/>
                </a:solidFill>
                <a:latin typeface="Arial"/>
              </a:rPr>
              <a:t>STRESS TEST — €1.0M+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291429"/>
            <a:ext cx="454136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1" i="0" dirty="0">
                <a:solidFill>
                  <a:srgbClr val="FFFFFF"/>
                </a:solidFill>
                <a:latin typeface="Arial"/>
              </a:rPr>
              <a:t>DSCR 1.35x → REVIEW Triggered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95833"/>
            <a:ext cx="4541368" cy="479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 dirty="0">
                <a:solidFill>
                  <a:srgbClr val="94A3B8"/>
                </a:solidFill>
                <a:latin typeface="Arial"/>
              </a:rPr>
              <a:t>Guidance: avoid pure debt — split into a €750k senior loan + €250k grant to hold prime pricing.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85661A9-BED2-986A-B979-807005F27835}"/>
              </a:ext>
            </a:extLst>
          </p:cNvPr>
          <p:cNvSpPr txBox="1"/>
          <p:nvPr/>
        </p:nvSpPr>
        <p:spPr>
          <a:xfrm>
            <a:off x="2911824" y="6338457"/>
            <a:ext cx="69491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*https://www.eba.europa.eu/regulation-and-policy/credit-risk/guidelines-on-loan-origination-and-monitoring</a:t>
            </a:r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C5DDAF42-969A-9CC9-2BB3-91D1222C9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713" y="3489769"/>
            <a:ext cx="2447636" cy="24476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160">
                <a:solidFill>
                  <a:srgbClr val="94A3B8"/>
                </a:solidFill>
                <a:latin typeface="Arial"/>
              </a:rPr>
              <a:t>FINSIGHT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97135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Arial"/>
              </a:rPr>
              <a:t>05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110">
                <a:solidFill>
                  <a:srgbClr val="10B981"/>
                </a:solidFill>
                <a:latin typeface="Arial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FFFFF"/>
                </a:solidFill>
                <a:latin typeface="Arial"/>
              </a:rPr>
              <a:t>Distribution Through Corporate Accountants: Zero Direct CAC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32378" cy="36576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269229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0B981"/>
                </a:solidFill>
                <a:latin typeface="Arial"/>
              </a:rPr>
              <a:t>0.5–1.0%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794760"/>
            <a:ext cx="2692298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4005072"/>
            <a:ext cx="269229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 spc="50">
                <a:solidFill>
                  <a:srgbClr val="FFFFFF"/>
                </a:solidFill>
                <a:latin typeface="Arial"/>
              </a:rPr>
              <a:t>MONETIZATION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98848"/>
            <a:ext cx="2692298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Arial"/>
              </a:rPr>
              <a:t>Success fee on loan drawdown — €5,000–€7,500 per closed deal.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2286000"/>
            <a:ext cx="3332378" cy="36576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9698" y="2788920"/>
            <a:ext cx="269229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0B981"/>
                </a:solidFill>
                <a:latin typeface="Arial"/>
              </a:rPr>
              <a:t>120,000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49698" y="3794760"/>
            <a:ext cx="2692298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49698" y="4005072"/>
            <a:ext cx="269229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 spc="50">
                <a:solidFill>
                  <a:srgbClr val="FFFFFF"/>
                </a:solidFill>
                <a:latin typeface="Arial"/>
              </a:rPr>
              <a:t>CHANNEL FLYWHEEL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698" y="4498848"/>
            <a:ext cx="2692298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 i="0" dirty="0">
                <a:solidFill>
                  <a:srgbClr val="94A3B8"/>
                </a:solidFill>
                <a:latin typeface="Arial"/>
              </a:rPr>
              <a:t>Italian accounting firms in reach. 1 partner delivers 25+ SME dossiers per year.</a:t>
            </a:r>
            <a:r>
              <a:rPr lang="it-IT" sz="1250" b="0" i="0" dirty="0">
                <a:solidFill>
                  <a:srgbClr val="94A3B8"/>
                </a:solidFill>
                <a:latin typeface="Arial"/>
              </a:rPr>
              <a:t>*</a:t>
            </a:r>
            <a:endParaRPr sz="125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27796" y="2286000"/>
            <a:ext cx="3332378" cy="36576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836" y="2788920"/>
            <a:ext cx="269229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10B981"/>
                </a:solidFill>
                <a:latin typeface="Arial"/>
              </a:rPr>
              <a:t>&gt;20x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47836" y="3794760"/>
            <a:ext cx="2692298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47836" y="4005072"/>
            <a:ext cx="269229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50" b="1" i="0" spc="50">
                <a:solidFill>
                  <a:srgbClr val="FFFFFF"/>
                </a:solidFill>
                <a:latin typeface="Arial"/>
              </a:rPr>
              <a:t>UNIT ECONOMICS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7836" y="4498848"/>
            <a:ext cx="2692298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Arial"/>
              </a:rPr>
              <a:t>CAC &lt; €250 | LTV &gt; €5,000 | LTV/CAC ratio.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628125A-4E3E-1DB0-3D72-CFA654F5B51B}"/>
              </a:ext>
            </a:extLst>
          </p:cNvPr>
          <p:cNvSpPr txBox="1"/>
          <p:nvPr/>
        </p:nvSpPr>
        <p:spPr>
          <a:xfrm>
            <a:off x="5245293" y="6230666"/>
            <a:ext cx="1701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*https://commercialisti.it/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160">
                <a:solidFill>
                  <a:srgbClr val="94A3B8"/>
                </a:solidFill>
                <a:latin typeface="Arial"/>
              </a:rPr>
              <a:t>FINSIGHT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97135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Arial"/>
              </a:rPr>
              <a:t>06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86384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 spc="110">
                <a:solidFill>
                  <a:srgbClr val="38BDF8"/>
                </a:solidFill>
                <a:latin typeface="Arial"/>
              </a:rPr>
              <a:t>EXECUTION ROADMAP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FFFFF"/>
                </a:solidFill>
                <a:latin typeface="Arial"/>
              </a:rPr>
              <a:t>The 12-Month Path to the European SME Capital Gateway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" y="2331720"/>
            <a:ext cx="10088575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261918" y="2212848"/>
            <a:ext cx="237744" cy="237744"/>
          </a:xfrm>
          <a:prstGeom prst="ellipse">
            <a:avLst/>
          </a:prstGeom>
          <a:solidFill>
            <a:srgbClr val="38BDF8"/>
          </a:solidFill>
          <a:ln w="25400">
            <a:solidFill>
              <a:srgbClr val="0B0F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332378" cy="30175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78373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00">
                <a:solidFill>
                  <a:srgbClr val="38BDF8"/>
                </a:solidFill>
                <a:latin typeface="Arial"/>
              </a:rPr>
              <a:t>MONTH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64992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FFFFF"/>
                </a:solidFill>
                <a:latin typeface="Arial"/>
              </a:rPr>
              <a:t>LOMBARDIA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2783738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Arial"/>
              </a:rPr>
              <a:t>5 accounting firms onboarded, 50 SMEs scored, €25M in volume originated.</a:t>
            </a:r>
          </a:p>
        </p:txBody>
      </p:sp>
      <p:sp>
        <p:nvSpPr>
          <p:cNvPr id="12" name="Oval 11"/>
          <p:cNvSpPr/>
          <p:nvPr/>
        </p:nvSpPr>
        <p:spPr>
          <a:xfrm>
            <a:off x="7591148" y="2212848"/>
            <a:ext cx="237744" cy="237744"/>
          </a:xfrm>
          <a:prstGeom prst="ellipse">
            <a:avLst/>
          </a:prstGeom>
          <a:solidFill>
            <a:srgbClr val="38BDF8"/>
          </a:solidFill>
          <a:ln w="25400">
            <a:solidFill>
              <a:srgbClr val="0B0F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29658" y="2743200"/>
            <a:ext cx="3332378" cy="30175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3978" y="3017520"/>
            <a:ext cx="278373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00">
                <a:solidFill>
                  <a:srgbClr val="38BDF8"/>
                </a:solidFill>
                <a:latin typeface="Arial"/>
              </a:rP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3978" y="3364992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FFFFF"/>
                </a:solidFill>
                <a:latin typeface="Arial"/>
              </a:rPr>
              <a:t>MULTI-LENDER 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978" y="4023360"/>
            <a:ext cx="2783738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Arial"/>
              </a:rPr>
              <a:t>15 digital credit funds competing in real time for certified dossiers.</a:t>
            </a:r>
          </a:p>
        </p:txBody>
      </p:sp>
      <p:sp>
        <p:nvSpPr>
          <p:cNvPr id="17" name="Oval 16"/>
          <p:cNvSpPr/>
          <p:nvPr/>
        </p:nvSpPr>
        <p:spPr>
          <a:xfrm>
            <a:off x="11021263" y="2212848"/>
            <a:ext cx="237744" cy="23774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B0F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27796" y="2743200"/>
            <a:ext cx="3332378" cy="30175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02116" y="3017520"/>
            <a:ext cx="278373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 spc="100">
                <a:solidFill>
                  <a:srgbClr val="10B981"/>
                </a:solidFill>
                <a:latin typeface="Arial"/>
              </a:rPr>
              <a:t>MONTH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2116" y="3364992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FFFFF"/>
                </a:solidFill>
                <a:latin typeface="Arial"/>
              </a:rPr>
              <a:t>CONTINUOUS TREASURY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2116" y="4023360"/>
            <a:ext cx="2783738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Arial"/>
              </a:rPr>
              <a:t>Automated covenant monitoring, live at pilot scale across European markets.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007B2-E6EA-4158-0CFE-C9BCA37C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50C67A-7DE5-E36D-B32B-D8E8465DBCBA}"/>
              </a:ext>
            </a:extLst>
          </p:cNvPr>
          <p:cNvSpPr txBox="1"/>
          <p:nvPr/>
        </p:nvSpPr>
        <p:spPr>
          <a:xfrm>
            <a:off x="731520" y="3840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160">
                <a:solidFill>
                  <a:srgbClr val="94A3B8"/>
                </a:solidFill>
                <a:latin typeface="Arial"/>
              </a:rPr>
              <a:t>FINSIGHT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46E02-F862-2D4A-115E-5FE6E7E35856}"/>
              </a:ext>
            </a:extLst>
          </p:cNvPr>
          <p:cNvSpPr txBox="1"/>
          <p:nvPr/>
        </p:nvSpPr>
        <p:spPr>
          <a:xfrm>
            <a:off x="9997135" y="3840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Arial"/>
              </a:rPr>
              <a:t>06 /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B44DD-207C-065C-0C3E-0977911EB87E}"/>
              </a:ext>
            </a:extLst>
          </p:cNvPr>
          <p:cNvSpPr txBox="1"/>
          <p:nvPr/>
        </p:nvSpPr>
        <p:spPr>
          <a:xfrm>
            <a:off x="731520" y="786384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it-IT" sz="1200" b="1" i="0" spc="110" dirty="0">
                <a:solidFill>
                  <a:srgbClr val="38BDF8"/>
                </a:solidFill>
                <a:latin typeface="Arial"/>
              </a:rPr>
              <a:t>US</a:t>
            </a:r>
            <a:endParaRPr sz="1200" b="1" i="0" spc="110" dirty="0">
              <a:solidFill>
                <a:srgbClr val="38BDF8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FC79E-FC2C-A92A-4575-F8278817002A}"/>
              </a:ext>
            </a:extLst>
          </p:cNvPr>
          <p:cNvSpPr txBox="1"/>
          <p:nvPr/>
        </p:nvSpPr>
        <p:spPr>
          <a:xfrm>
            <a:off x="731520" y="11155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it-IT" sz="6000" b="1" i="0" dirty="0">
                <a:solidFill>
                  <a:srgbClr val="FFFFFF"/>
                </a:solidFill>
                <a:latin typeface="Arial"/>
              </a:rPr>
              <a:t>Thank </a:t>
            </a:r>
            <a:r>
              <a:rPr lang="it-IT" sz="6000" b="1" i="0" dirty="0" err="1">
                <a:solidFill>
                  <a:srgbClr val="FFFFFF"/>
                </a:solidFill>
                <a:latin typeface="Arial"/>
              </a:rPr>
              <a:t>you</a:t>
            </a:r>
            <a:endParaRPr sz="6000" b="1" i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93582D4-9740-C497-3B17-0844CD10B986}"/>
              </a:ext>
            </a:extLst>
          </p:cNvPr>
          <p:cNvCxnSpPr/>
          <p:nvPr/>
        </p:nvCxnSpPr>
        <p:spPr>
          <a:xfrm>
            <a:off x="1051560" y="2331720"/>
            <a:ext cx="10088575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1D859C9-1BFA-912E-4920-AB234CECB28C}"/>
              </a:ext>
            </a:extLst>
          </p:cNvPr>
          <p:cNvSpPr/>
          <p:nvPr/>
        </p:nvSpPr>
        <p:spPr>
          <a:xfrm>
            <a:off x="4261918" y="2212848"/>
            <a:ext cx="237744" cy="237744"/>
          </a:xfrm>
          <a:prstGeom prst="ellipse">
            <a:avLst/>
          </a:prstGeom>
          <a:solidFill>
            <a:srgbClr val="38BDF8"/>
          </a:solidFill>
          <a:ln w="25400">
            <a:solidFill>
              <a:srgbClr val="0B0F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698612-FAD2-8E40-75CB-634A8C328AAD}"/>
              </a:ext>
            </a:extLst>
          </p:cNvPr>
          <p:cNvSpPr/>
          <p:nvPr/>
        </p:nvSpPr>
        <p:spPr>
          <a:xfrm>
            <a:off x="731520" y="2743200"/>
            <a:ext cx="3332378" cy="30175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2C268-6CDA-C578-46E5-22513314188B}"/>
              </a:ext>
            </a:extLst>
          </p:cNvPr>
          <p:cNvSpPr txBox="1"/>
          <p:nvPr/>
        </p:nvSpPr>
        <p:spPr>
          <a:xfrm>
            <a:off x="1005840" y="3017520"/>
            <a:ext cx="278373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it-IT" sz="1300" b="1" i="0" spc="100" dirty="0">
                <a:solidFill>
                  <a:srgbClr val="38BDF8"/>
                </a:solidFill>
                <a:latin typeface="Arial"/>
              </a:rPr>
              <a:t>Data Science</a:t>
            </a:r>
            <a:endParaRPr sz="1300" b="1" i="0" spc="100" dirty="0">
              <a:solidFill>
                <a:srgbClr val="38BDF8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0C36D-CCA0-DE72-1C80-43BAAB8125FF}"/>
              </a:ext>
            </a:extLst>
          </p:cNvPr>
          <p:cNvSpPr txBox="1"/>
          <p:nvPr/>
        </p:nvSpPr>
        <p:spPr>
          <a:xfrm>
            <a:off x="1005840" y="3364992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it-IT" sz="1650" b="1" i="0" dirty="0">
                <a:solidFill>
                  <a:srgbClr val="FFFFFF"/>
                </a:solidFill>
                <a:latin typeface="Arial"/>
              </a:rPr>
              <a:t>Colombini Francesco</a:t>
            </a:r>
            <a:endParaRPr sz="165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3A4EDD-3F6E-CD39-A54D-F6975EDC98F0}"/>
              </a:ext>
            </a:extLst>
          </p:cNvPr>
          <p:cNvSpPr/>
          <p:nvPr/>
        </p:nvSpPr>
        <p:spPr>
          <a:xfrm>
            <a:off x="7591148" y="2212848"/>
            <a:ext cx="237744" cy="237744"/>
          </a:xfrm>
          <a:prstGeom prst="ellipse">
            <a:avLst/>
          </a:prstGeom>
          <a:solidFill>
            <a:srgbClr val="38BDF8"/>
          </a:solidFill>
          <a:ln w="25400">
            <a:solidFill>
              <a:srgbClr val="0B0F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38F7DD9-9301-94DA-AA19-DB73352EB348}"/>
              </a:ext>
            </a:extLst>
          </p:cNvPr>
          <p:cNvSpPr/>
          <p:nvPr/>
        </p:nvSpPr>
        <p:spPr>
          <a:xfrm>
            <a:off x="4429658" y="2743200"/>
            <a:ext cx="3332378" cy="30175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BE13-84FF-49D6-9522-98C176A3990A}"/>
              </a:ext>
            </a:extLst>
          </p:cNvPr>
          <p:cNvSpPr txBox="1"/>
          <p:nvPr/>
        </p:nvSpPr>
        <p:spPr>
          <a:xfrm>
            <a:off x="4703978" y="3017520"/>
            <a:ext cx="278373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it-IT" sz="1300" b="1" spc="100" dirty="0">
                <a:solidFill>
                  <a:srgbClr val="38BDF8"/>
                </a:solidFill>
                <a:latin typeface="Arial"/>
              </a:rPr>
              <a:t>Data Science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2B255-310A-EBCF-24D5-EE5F931C2F49}"/>
              </a:ext>
            </a:extLst>
          </p:cNvPr>
          <p:cNvSpPr txBox="1"/>
          <p:nvPr/>
        </p:nvSpPr>
        <p:spPr>
          <a:xfrm>
            <a:off x="4703978" y="3364992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it-IT" sz="1650" b="1" i="0" dirty="0">
                <a:solidFill>
                  <a:srgbClr val="FFFFFF"/>
                </a:solidFill>
                <a:latin typeface="Arial"/>
              </a:rPr>
              <a:t>Osama Haider</a:t>
            </a:r>
            <a:endParaRPr sz="165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C5AF91-D7EC-4580-6D60-7D9FE105BE5E}"/>
              </a:ext>
            </a:extLst>
          </p:cNvPr>
          <p:cNvSpPr/>
          <p:nvPr/>
        </p:nvSpPr>
        <p:spPr>
          <a:xfrm>
            <a:off x="11021263" y="2212848"/>
            <a:ext cx="237744" cy="23774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0B0F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2A1A110-474B-CF80-B40C-09827C5163C7}"/>
              </a:ext>
            </a:extLst>
          </p:cNvPr>
          <p:cNvSpPr/>
          <p:nvPr/>
        </p:nvSpPr>
        <p:spPr>
          <a:xfrm>
            <a:off x="8127796" y="2743200"/>
            <a:ext cx="3332378" cy="30175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92C8EB-DF08-ABCF-8E2D-140C5F2C65B2}"/>
              </a:ext>
            </a:extLst>
          </p:cNvPr>
          <p:cNvSpPr txBox="1"/>
          <p:nvPr/>
        </p:nvSpPr>
        <p:spPr>
          <a:xfrm>
            <a:off x="8402116" y="3017520"/>
            <a:ext cx="278373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it-IT" sz="1300" b="1" i="0" spc="100" dirty="0">
                <a:solidFill>
                  <a:srgbClr val="10B981"/>
                </a:solidFill>
                <a:latin typeface="Arial"/>
              </a:rPr>
              <a:t>AI4ST</a:t>
            </a:r>
            <a:endParaRPr sz="1300" b="1" i="0" spc="100" dirty="0">
              <a:solidFill>
                <a:srgbClr val="10B981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51926A-CEF9-3E45-90C1-68FB08F79AE4}"/>
              </a:ext>
            </a:extLst>
          </p:cNvPr>
          <p:cNvSpPr txBox="1"/>
          <p:nvPr/>
        </p:nvSpPr>
        <p:spPr>
          <a:xfrm>
            <a:off x="8402116" y="3364992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it-IT" sz="1650" b="1" dirty="0">
                <a:solidFill>
                  <a:srgbClr val="FFFFFF"/>
                </a:solidFill>
                <a:latin typeface="Arial"/>
              </a:rPr>
              <a:t>Pallab Mondal</a:t>
            </a:r>
            <a:endParaRPr sz="165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A90E3DB0-64C8-4277-30D8-1DC13149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11"/>
          <a:stretch>
            <a:fillRect/>
          </a:stretch>
        </p:blipFill>
        <p:spPr>
          <a:xfrm>
            <a:off x="5326567" y="3749039"/>
            <a:ext cx="1538865" cy="1811541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920FFB37-4F95-F292-2ACA-C34FC8518F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098"/>
          <a:stretch>
            <a:fillRect/>
          </a:stretch>
        </p:blipFill>
        <p:spPr>
          <a:xfrm>
            <a:off x="9114503" y="3749039"/>
            <a:ext cx="1435510" cy="1731583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BAA0C904-B79F-0FF2-3C6A-641926DA22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38" t="10778" r="11813"/>
          <a:stretch>
            <a:fillRect/>
          </a:stretch>
        </p:blipFill>
        <p:spPr>
          <a:xfrm>
            <a:off x="1606092" y="3749039"/>
            <a:ext cx="1538865" cy="181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45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566</Words>
  <Application>Microsoft Office PowerPoint</Application>
  <PresentationFormat>Widescreen</PresentationFormat>
  <Paragraphs>102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f.colombini4@campus.unimib.it</cp:lastModifiedBy>
  <cp:revision>4</cp:revision>
  <dcterms:created xsi:type="dcterms:W3CDTF">2013-01-27T09:14:16Z</dcterms:created>
  <dcterms:modified xsi:type="dcterms:W3CDTF">2026-09-08T12:37:50Z</dcterms:modified>
  <cp:category/>
</cp:coreProperties>
</file>