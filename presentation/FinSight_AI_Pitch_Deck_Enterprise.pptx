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5669280" cy="347472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36576"/>
          <a:lstStyle/>
          <a:p>
            <a:pPr algn="ctr">
              <a:defRPr sz="900" b="1">
                <a:solidFill>
                  <a:srgbClr val="38BDF8"/>
                </a:solidFill>
                <a:latin typeface="Consolas"/>
              </a:defRPr>
            </a:pPr>
            <a:r>
              <a:t>⚡ DUCKDB IN-MEMORY OLAP ENGINE  //  LATENCY &lt; 4ms  //  EBA COMPLIANT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5600" b="1">
                <a:solidFill>
                  <a:srgbClr val="FFFFFF"/>
                </a:solidFill>
                <a:latin typeface="Segoe UI"/>
              </a:defRPr>
            </a:pPr>
            <a:r>
              <a:t>FinSight AI</a:t>
            </a:r>
          </a:p>
          <a:p>
            <a:pPr>
              <a:spcAft>
                <a:spcPts val="1400"/>
              </a:spcAft>
              <a:defRPr sz="2200" b="1">
                <a:solidFill>
                  <a:srgbClr val="38BDF8"/>
                </a:solidFill>
                <a:latin typeface="Segoe UI"/>
              </a:defRPr>
            </a:pPr>
            <a:r>
              <a:t>The Autonomous SME Credit Readiness &amp; Capital Sizing Copilot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Eliminating the 3-week borrowing black box for European SMEs.</a:t>
            </a:r>
            <a:br/>
            <a:r>
              <a:t>Fusing statutory balance sheets, Banca d'Italia provincial default data, and ESG disclosures</a:t>
            </a:r>
            <a:br/>
            <a:r>
              <a:t>into an institutional, pre-underwritten credit dossier in 14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97680"/>
            <a:ext cx="3474720" cy="146304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4315968"/>
            <a:ext cx="332841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434840"/>
            <a:ext cx="30175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EXECUTION LATENCY</a:t>
            </a:r>
          </a:p>
          <a:p>
            <a:pPr>
              <a:defRPr sz="3800" b="1">
                <a:solidFill>
                  <a:srgbClr val="38BDF8"/>
                </a:solidFill>
                <a:latin typeface="Consolas"/>
              </a:defRPr>
            </a:pPr>
            <a:r>
              <a:t>14s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vs 21 Days Bank Processing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297680"/>
            <a:ext cx="3474720" cy="146304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16552" y="4315968"/>
            <a:ext cx="332841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434840"/>
            <a:ext cx="30175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UNDERWRITING CERTAINTY</a:t>
            </a:r>
          </a:p>
          <a:p>
            <a:pPr>
              <a:defRPr sz="3800" b="1">
                <a:solidFill>
                  <a:srgbClr val="10B981"/>
                </a:solidFill>
                <a:latin typeface="Consolas"/>
              </a:defRPr>
            </a:pPr>
            <a:r>
              <a:t>94%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Banca d'Italia Pre-Audited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4297680"/>
            <a:ext cx="3474720" cy="146304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28432" y="4315968"/>
            <a:ext cx="3328416" cy="3200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4434840"/>
            <a:ext cx="30175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ACCIDENTAL BLACK BOX</a:t>
            </a:r>
          </a:p>
          <a:p>
            <a:pPr>
              <a:defRPr sz="3800" b="1">
                <a:solidFill>
                  <a:srgbClr val="34D399"/>
                </a:solidFill>
                <a:latin typeface="Consolas"/>
              </a:defRPr>
            </a:pPr>
            <a:r>
              <a:t>0%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Deterministic DuckDB Engine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943600"/>
            <a:ext cx="10698480" cy="502920"/>
          </a:xfrm>
          <a:prstGeom prst="roundRect">
            <a:avLst/>
          </a:prstGeom>
          <a:solidFill>
            <a:srgbClr val="111827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016752"/>
            <a:ext cx="103327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950" b="1">
                <a:solidFill>
                  <a:srgbClr val="F1F5F9"/>
                </a:solidFill>
                <a:latin typeface="Consolas"/>
              </a:defRPr>
            </a:pPr>
            <a:r>
              <a:t>PROVING CASE: EcoTex Milano S.p.A. (€750k CapEx Facility)  |  DISTRIBUTION: 120,000 Italian Corporate Accounting Firms  |  TEAM: Loop Troops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08960" cy="25603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/>
          <a:lstStyle/>
          <a:p>
            <a:pPr algn="ctr">
              <a:defRPr sz="850" b="1">
                <a:solidFill>
                  <a:srgbClr val="38BDF8"/>
                </a:solidFill>
                <a:latin typeface="Consolas"/>
              </a:defRPr>
            </a:pPr>
            <a:r>
              <a:t>●  MARKET FRICTION &amp; INFORMATION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Segoe UI"/>
              </a:defRPr>
            </a:pPr>
            <a:r>
              <a:t>Why 40% of Sound SMEs Face Rejection or Rate Spikes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Borrowers apply blindfolded; banks spend weeks manually re-keying data into spreadsheets.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120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847088"/>
            <a:ext cx="5065776" cy="32004"/>
          </a:xfrm>
          <a:prstGeom prst="rect">
            <a:avLst/>
          </a:prstGeom>
          <a:solidFill>
            <a:srgbClr val="F43F5E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46634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Consolas"/>
              </a:defRPr>
            </a:pPr>
            <a:r>
              <a:t>THE STATUS QUO // 21-DAY BLACK BOX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Borrowing in the Dark</a:t>
            </a:r>
          </a:p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✖  The Information Vacuum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SMEs have zero visibility into credit scoring rules before applying, triggering preventable rejections and margin surcharges.</a:t>
            </a:r>
          </a:p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✖  The 3-Week Bureaucratic Drag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Manual financial re-keying and document assembly stalls CapEx investments; market opportunities vanish while loans sit in underwriting.</a:t>
            </a:r>
          </a:p>
          <a:p>
            <a:pPr>
              <a:defRPr sz="1200" b="1">
                <a:solidFill>
                  <a:srgbClr val="F43F5E"/>
                </a:solidFill>
                <a:latin typeface="Segoe UI"/>
              </a:defRPr>
            </a:pPr>
            <a:r>
              <a:t>✖  Unmonetized ESG Investments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SMEs invest tens of thousands in decarbonization without proof, missing -45 bps rate subsidies and regional transition grants.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91072" y="1847088"/>
            <a:ext cx="506577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66344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FINSIGHT AI // DETERMINISTIC CERTAINTY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The Algorithmic Advantage</a:t>
            </a:r>
          </a:p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✔  Instant Pre-Underwriting (14s)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In-memory DuckDB parses official CEE balance sheets in RAM, computing exact DSCR, leverage, and solvency benchmarks before bank submission.</a:t>
            </a:r>
          </a:p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✔  Banca d'Italia Macro Fusion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Integrates provincial default rates (Milan NPL: 1.82%) and Lombardia sector trends (+4.1%) directly into credit bargaining leverage.</a:t>
            </a:r>
          </a:p>
          <a:p>
            <a:pPr>
              <a:defRPr sz="1200" b="1">
                <a:solidFill>
                  <a:srgbClr val="34D399"/>
                </a:solidFill>
                <a:latin typeface="Segoe UI"/>
              </a:defRPr>
            </a:pPr>
            <a:r>
              <a:t>✔  Capitalized Green Proof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Vector RAG extracts verified ISO and ZDHC audit disclosures to secure subsidized prime rates (-45 bps) and regional grants.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08960" cy="25603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/>
          <a:lstStyle/>
          <a:p>
            <a:pPr algn="ctr">
              <a:defRPr sz="850" b="1">
                <a:solidFill>
                  <a:srgbClr val="38BDF8"/>
                </a:solidFill>
                <a:latin typeface="Consolas"/>
              </a:defRPr>
            </a:pPr>
            <a:r>
              <a:t>●  PROPRIETARY MECHANISM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Segoe UI"/>
              </a:defRPr>
            </a:pPr>
            <a:r>
              <a:t>The 4-Pillar Glass Box: In-Memory, Deterministic, Auditable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Golden Rule: The LLM is NEVER the financial calculator. Pure deterministic math in DuckDB; AI synthesizes evidence.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847088"/>
            <a:ext cx="241401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219456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Consolas"/>
              </a:defRPr>
            </a:pPr>
            <a:r>
              <a:t>01 / IN-MEMORY OLAP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DuckDB 1.0</a:t>
            </a:r>
          </a:p>
          <a:p>
            <a:pPr>
              <a:spcAft>
                <a:spcPts val="1000"/>
              </a:spcAft>
              <a:defRPr sz="950" b="1">
                <a:solidFill>
                  <a:srgbClr val="38BDF8"/>
                </a:solidFill>
                <a:latin typeface="Consolas"/>
              </a:defRPr>
            </a:pPr>
            <a:r>
              <a:t>[&lt; 4ms Query]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Columnar SQL engine running locally in RAM.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Ingests Italian statutory CEE CSVs &amp; PDFs.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Total data sovereignty: sensitive accounting records never leave the local environment.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Zero latency cloud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828800"/>
            <a:ext cx="256032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20440" y="1847088"/>
            <a:ext cx="2414016" cy="32004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965960"/>
            <a:ext cx="219456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366F1"/>
                </a:solidFill>
                <a:latin typeface="Consolas"/>
              </a:defRPr>
            </a:pPr>
            <a:r>
              <a:t>02 / MACRO FUSION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Banca d'Italia</a:t>
            </a:r>
          </a:p>
          <a:p>
            <a:pPr>
              <a:spcAft>
                <a:spcPts val="1000"/>
              </a:spcAft>
              <a:defRPr sz="950" b="1">
                <a:solidFill>
                  <a:srgbClr val="6366F1"/>
                </a:solidFill>
                <a:latin typeface="Consolas"/>
              </a:defRPr>
            </a:pPr>
            <a:r>
              <a:t>[1.82% NPL]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Live query of central bank provincial credit default benchmarks.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Syncs with Open Data Lombardia sector growth (+4.1% YoY).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Turns regional economic strength into immediate rate bargaining power.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828800"/>
            <a:ext cx="256032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847088"/>
            <a:ext cx="241401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965960"/>
            <a:ext cx="219456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Consolas"/>
              </a:defRPr>
            </a:pPr>
            <a:r>
              <a:t>03 / DETERMINISTIC MATH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Python / Pydantic</a:t>
            </a:r>
          </a:p>
          <a:p>
            <a:pPr>
              <a:spcAft>
                <a:spcPts val="1000"/>
              </a:spcAft>
              <a:defRPr sz="950" b="1">
                <a:solidFill>
                  <a:srgbClr val="10B981"/>
                </a:solidFill>
                <a:latin typeface="Consolas"/>
              </a:defRPr>
            </a:pPr>
            <a:r>
              <a:t>[100% Exact]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Mathematical computation of DSCR (3.37x), Net Debt / EBITDA (1.24x), and Quick Ratios.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Bank-grade credit scoring rules executed with hard-coded formulas.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Zero mathematical hallucination.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1828800"/>
            <a:ext cx="256032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847088"/>
            <a:ext cx="2414016" cy="32004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1965960"/>
            <a:ext cx="219456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A855F7"/>
                </a:solidFill>
                <a:latin typeface="Consolas"/>
              </a:defRPr>
            </a:pPr>
            <a:r>
              <a:t>04 / REGULATORY PDF</a:t>
            </a:r>
          </a:p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EBA / OAM Dossier</a:t>
            </a:r>
          </a:p>
          <a:p>
            <a:pPr>
              <a:spcAft>
                <a:spcPts val="1000"/>
              </a:spcAft>
              <a:defRPr sz="950" b="1">
                <a:solidFill>
                  <a:srgbClr val="A855F7"/>
                </a:solidFill>
                <a:latin typeface="Consolas"/>
              </a:defRPr>
            </a:pPr>
            <a:r>
              <a:t>[SHA-256 Seal]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Institutional vector PDF Credit Memorandum compliant with EBA/GL/2020/06.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TUB Art. 128-sexies integrity seal.</a:t>
            </a:r>
          </a:p>
          <a:p>
            <a:pPr>
              <a:spcAft>
                <a:spcPts val="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• Dual workspace linking SME CFO and Bank Underwriter through Application ID.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08960" cy="25603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/>
          <a:lstStyle/>
          <a:p>
            <a:pPr algn="ctr">
              <a:defRPr sz="850" b="1">
                <a:solidFill>
                  <a:srgbClr val="38BDF8"/>
                </a:solidFill>
                <a:latin typeface="Consolas"/>
              </a:defRPr>
            </a:pPr>
            <a:r>
              <a:t>●  LIVE DEMONSTRATION &amp; STRESS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Segoe UI"/>
              </a:defRPr>
            </a:pPr>
            <a:r>
              <a:t>EcoTex Milano: Ingestion, Scoring &amp; Capital Sizing Lab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Live Case Study (ID: ECOTEX-2026-IT): €750k CapEx sustainability facility evaluated in 14 seconds.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560320" cy="137160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847088"/>
            <a:ext cx="241401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38528"/>
            <a:ext cx="219456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REQUESTED FACILITY</a:t>
            </a:r>
          </a:p>
          <a:p>
            <a:pPr>
              <a:defRPr sz="2400" b="1">
                <a:solidFill>
                  <a:srgbClr val="38BDF8"/>
                </a:solidFill>
                <a:latin typeface="Consolas"/>
              </a:defRPr>
            </a:pPr>
            <a:r>
              <a:t>€ 750,000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5.15% Prime SLL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828800"/>
            <a:ext cx="2560320" cy="137160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20440" y="1847088"/>
            <a:ext cx="241401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0168" y="1938528"/>
            <a:ext cx="219456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POST-DEBT DSCR</a:t>
            </a:r>
          </a:p>
          <a:p>
            <a:pPr>
              <a:defRPr sz="2400" b="1">
                <a:solidFill>
                  <a:srgbClr val="10B981"/>
                </a:solidFill>
                <a:latin typeface="Consolas"/>
              </a:defRPr>
            </a:pPr>
            <a:r>
              <a:t>3.37x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Covenant Floor: &gt; 1.30x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828800"/>
            <a:ext cx="2560320" cy="137160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847088"/>
            <a:ext cx="2414016" cy="3200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5936" y="1938528"/>
            <a:ext cx="219456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HEALTH SCORE</a:t>
            </a:r>
          </a:p>
          <a:p>
            <a:pPr>
              <a:defRPr sz="2400" b="1">
                <a:solidFill>
                  <a:srgbClr val="FFFFFF"/>
                </a:solidFill>
                <a:latin typeface="Consolas"/>
              </a:defRPr>
            </a:pPr>
            <a:r>
              <a:t>97 / 100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Prime Solvency Tier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8824" y="1828800"/>
            <a:ext cx="2560320" cy="137160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51976" y="1847088"/>
            <a:ext cx="2414016" cy="32004"/>
          </a:xfrm>
          <a:prstGeom prst="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61704" y="1938528"/>
            <a:ext cx="219456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BANKABILITY OUTCOME</a:t>
            </a:r>
          </a:p>
          <a:p>
            <a:pPr>
              <a:defRPr sz="2400" b="1">
                <a:solidFill>
                  <a:srgbClr val="34D399"/>
                </a:solidFill>
                <a:latin typeface="Consolas"/>
              </a:defRPr>
            </a:pPr>
            <a:r>
              <a:t>APPROVE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Pre-Approved by Algorithm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383280"/>
            <a:ext cx="10698480" cy="109728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" y="3401568"/>
            <a:ext cx="1055217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456432"/>
            <a:ext cx="10332720" cy="9144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900" b="1">
                <a:solidFill>
                  <a:srgbClr val="38BDF8"/>
                </a:solidFill>
                <a:latin typeface="Consolas"/>
              </a:defRPr>
            </a:pPr>
            <a:r>
              <a:t>COVENANT HEADROOM GAUGE // SOLVENCY ABSORPTION BUFFER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767328"/>
            <a:ext cx="2583180" cy="201168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97580" y="3767328"/>
            <a:ext cx="774954" cy="201168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2534" y="3767328"/>
            <a:ext cx="6974586" cy="20116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593884" y="3730752"/>
            <a:ext cx="5486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2534" y="3730752"/>
            <a:ext cx="36576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041648"/>
            <a:ext cx="1033272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>
                <a:solidFill>
                  <a:srgbClr val="34D399"/>
                </a:solidFill>
                <a:latin typeface="Consolas"/>
              </a:defRPr>
            </a:pPr>
            <a:r>
              <a:t>● Buffer Solvibilità: +2.07x sopra soglia covenant (1.30x)  |  Resiste a shock EBITDA fino a -61.4% prima del default  |  Scala: 0.0x → 4.0x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663440"/>
            <a:ext cx="10698480" cy="155448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4681728"/>
            <a:ext cx="10552176" cy="32004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773168"/>
            <a:ext cx="10332720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F59E0B"/>
                </a:solidFill>
                <a:latin typeface="Consolas"/>
              </a:defRPr>
            </a:pPr>
            <a:r>
              <a:t>SENSITIVITY EXPERIMENT // THE €1.0M TIPPING POINT</a:t>
            </a:r>
          </a:p>
          <a:p>
            <a:pPr>
              <a:spcAft>
                <a:spcPts val="200"/>
              </a:spcAft>
              <a:defRPr sz="1100" b="1">
                <a:solidFill>
                  <a:srgbClr val="34D399"/>
                </a:solidFill>
                <a:latin typeface="Segoe UI"/>
              </a:defRPr>
            </a:pPr>
            <a:r>
              <a:t>• BASE CASE (€750k): DSCR 3.37x | Health Score 97/100 | Pre-Approved at prime 5.15% fixed rate + €112k regional green grant.</a:t>
            </a:r>
          </a:p>
          <a:p>
            <a:pPr>
              <a:spcAft>
                <a:spcPts val="400"/>
              </a:spcAft>
              <a:defRPr sz="1100" b="1">
                <a:solidFill>
                  <a:srgbClr val="F43F5E"/>
                </a:solidFill>
                <a:latin typeface="Segoe UI"/>
              </a:defRPr>
            </a:pPr>
            <a:r>
              <a:t>• STRESS CASE (€1.0M+): DSCR drops to 1.28x | Net Debt/EBITDA expands to 2.25x | Pushes file into bank REVIEW watchlist.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💡 ACTIONABLE CFO RECOMMENDATION: Cap senior bank debt at €750k to preserve prime pricing. Fund the remaining €250k through Lombardia Green Transition Grant, guaranteeing 100% delibera approval.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08960" cy="25603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/>
          <a:lstStyle/>
          <a:p>
            <a:pPr algn="ctr">
              <a:defRPr sz="850" b="1">
                <a:solidFill>
                  <a:srgbClr val="38BDF8"/>
                </a:solidFill>
                <a:latin typeface="Consolas"/>
              </a:defRPr>
            </a:pPr>
            <a:r>
              <a:t>●  COMMERCIAL STRATEGY &amp;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Segoe UI"/>
              </a:defRPr>
            </a:pPr>
            <a:r>
              <a:t>Business Model: B2B2C Accountant Flywheel &amp; Zero Direct CAC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High margins, self-funding transaction economics, and distribution leveraged through 120,000 corporate accounting firms.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847088"/>
            <a:ext cx="323697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Consolas"/>
              </a:defRPr>
            </a:pPr>
            <a:r>
              <a:t>TRANSACTION PRICING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Freemium + Success Fee</a:t>
            </a:r>
          </a:p>
          <a:p>
            <a:pPr>
              <a:spcAft>
                <a:spcPts val="1000"/>
              </a:spcAft>
              <a:defRPr sz="2800" b="1">
                <a:solidFill>
                  <a:srgbClr val="38BDF8"/>
                </a:solidFill>
                <a:latin typeface="Consolas"/>
              </a:defRPr>
            </a:pPr>
            <a:r>
              <a:t>€3,500 - €7,500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Free Bankability Scan: Instant diagnostic to onboard SMEs at zero acquisition cost.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Success Fee upon Loan Drawdown: 0.5% - 1.0% paid only when funds hit the SME's account.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Average deal revenue: €5,000.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Pure ROI for the SME: Unlocked -45 bps rate discount pays for FinSight 3x over.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62272" y="1847088"/>
            <a:ext cx="323697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Consolas"/>
              </a:defRPr>
            </a:pPr>
            <a:r>
              <a:t>DISTRIBUTION CHANNEL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B2B2C Accountant Flywheel</a:t>
            </a:r>
          </a:p>
          <a:p>
            <a:pPr>
              <a:spcAft>
                <a:spcPts val="1000"/>
              </a:spcAft>
              <a:defRPr sz="2800" b="1">
                <a:solidFill>
                  <a:srgbClr val="10B981"/>
                </a:solidFill>
                <a:latin typeface="Consolas"/>
              </a:defRPr>
            </a:pPr>
            <a:r>
              <a:t>120,000 Firms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Italy has 120,000 corporate accounting firms (Commercialisti) advising SMEs.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Accountants manage SME credit applications but lack algorithmic underwriting tools.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FinSight provides a white-label 'Credit Readiness Console'.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1 Accounting Partner = 25+ SME loan dossiers annually.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Slashes blended CAC to &lt; €250.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19872" y="1847088"/>
            <a:ext cx="3236976" cy="32004"/>
          </a:xfrm>
          <a:prstGeom prst="rect">
            <a:avLst/>
          </a:prstGeom>
          <a:solidFill>
            <a:srgbClr val="A855F7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A855F7"/>
                </a:solidFill>
                <a:latin typeface="Consolas"/>
              </a:defRPr>
            </a:pPr>
            <a:r>
              <a:t>UNIT ECONOMICS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Capital Efficient Scale</a:t>
            </a:r>
          </a:p>
          <a:p>
            <a:pPr>
              <a:spcAft>
                <a:spcPts val="1000"/>
              </a:spcAft>
              <a:defRPr sz="2800" b="1">
                <a:solidFill>
                  <a:srgbClr val="A855F7"/>
                </a:solidFill>
                <a:latin typeface="Consolas"/>
              </a:defRPr>
            </a:pPr>
            <a:r>
              <a:t>20x+ LTV / CAC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Target Facility Size: €500k - €1.5M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Average Net Revenue per Deal: €5,000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Customer Acquisition Cost (CAC): €250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LTV / CAC Ratio: &gt; 20x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Gross Margin: 92% (pure software &amp; compute)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Highly cash-flow generative from pilot cohort with zero working capital lockup.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90E"/>
          </a:solidFill>
          <a:ln>
            <a:solidFill>
              <a:srgbClr val="0609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08960" cy="256032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/>
          <a:lstStyle/>
          <a:p>
            <a:pPr algn="ctr">
              <a:defRPr sz="850" b="1">
                <a:solidFill>
                  <a:srgbClr val="38BDF8"/>
                </a:solidFill>
                <a:latin typeface="Consolas"/>
              </a:defRPr>
            </a:pPr>
            <a:r>
              <a:t>●  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Segoe UI"/>
              </a:defRPr>
            </a:pPr>
            <a:r>
              <a:t>Execution Plan: From Lombardia Pilot to Pan-European Gateway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focused 3-step operational rollout driving rapid volume and regulatory defensibility.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4672" y="1847088"/>
            <a:ext cx="3236976" cy="32004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Consolas"/>
              </a:defRPr>
            </a:pPr>
            <a:r>
              <a:t>PHASE 1 // DAYS 1 - 30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Lombardia Manufacturing Pilot</a:t>
            </a:r>
          </a:p>
          <a:p>
            <a:pPr>
              <a:spcAft>
                <a:spcPts val="1000"/>
              </a:spcAft>
              <a:defRPr sz="2800" b="1">
                <a:solidFill>
                  <a:srgbClr val="10B981"/>
                </a:solidFill>
                <a:latin typeface="Consolas"/>
              </a:defRPr>
            </a:pPr>
            <a:r>
              <a:t>€ 25M Volume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Deploy with 5 pilot manufacturing accounting firms in Milan and Brescia.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Benchmark 50 live SME equipment loan dossiers.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Direct integration with 3 regional cooperative and commercial banks.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Metric: 100% formal acceptance rate for FinSight-certified dossiers.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62272" y="1847088"/>
            <a:ext cx="3236976" cy="32004"/>
          </a:xfrm>
          <a:prstGeom prst="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Consolas"/>
              </a:defRPr>
            </a:pPr>
            <a:r>
              <a:t>PHASE 2 // DAYS 31 - 90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Multi-Bank Marketplace</a:t>
            </a:r>
          </a:p>
          <a:p>
            <a:pPr>
              <a:spcAft>
                <a:spcPts val="1000"/>
              </a:spcAft>
              <a:defRPr sz="2800" b="1">
                <a:solidFill>
                  <a:srgbClr val="38BDF8"/>
                </a:solidFill>
                <a:latin typeface="Consolas"/>
              </a:defRPr>
            </a:pPr>
            <a:r>
              <a:t>€ 100M Volume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Expand distribution via regional industrial associations (Confindustria).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Onboard 15 commercial banks and digital private credit funds.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Launch automated regional green grant matching engine.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Deploy Bank Credit Underwriter portal for institutional portfolio monitoring.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0D1320"/>
          </a:solidFill>
          <a:ln w="1524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19872" y="1847088"/>
            <a:ext cx="3236976" cy="32004"/>
          </a:xfrm>
          <a:prstGeom prst="rect">
            <a:avLst/>
          </a:prstGeom>
          <a:solidFill>
            <a:srgbClr val="6366F1"/>
          </a:solidFill>
          <a:ln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965960"/>
            <a:ext cx="292608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850" b="1">
                <a:solidFill>
                  <a:srgbClr val="6366F1"/>
                </a:solidFill>
                <a:latin typeface="Consolas"/>
              </a:defRPr>
            </a:pPr>
            <a:r>
              <a:t>PHASE 3 // MONTHS 4 - 12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SME Treasury &amp; Capital OS</a:t>
            </a:r>
          </a:p>
          <a:p>
            <a:pPr>
              <a:spcAft>
                <a:spcPts val="1000"/>
              </a:spcAft>
              <a:defRPr sz="2800" b="1">
                <a:solidFill>
                  <a:srgbClr val="6366F1"/>
                </a:solidFill>
                <a:latin typeface="Consolas"/>
              </a:defRPr>
            </a:pPr>
            <a:r>
              <a:t>€ 500M+ Run-Rate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Expand from loan origination to continuous SME treasury intelligence.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Automated quarterly covenant health monitoring &amp; working capital optimization.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The definitive capital readiness operating system for European SMEs.</a:t>
            </a:r>
          </a:p>
          <a:p>
            <a:pPr>
              <a:spcAft>
                <a:spcPts val="5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• Pan-European expansion into DACH and France under EBA-harmonized rules.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Consolas"/>
              </a:defRPr>
            </a:pPr>
            <a:r>
              <a:t>DUCKDB 1.0 IN-MEMORY OLAP  |  APPLICATION ID: ECOTEX-2026-IT  |  EBA/GL/2020/06 COMPLIANT  |  TUB ART. 128-SEXIES SEAL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